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c0fd07b6dd4c09" /><Relationship Type="http://schemas.openxmlformats.org/officeDocument/2006/relationships/extended-properties" Target="/docProps/app.xml" Id="R2bee03f223814fc2" /><Relationship Type="http://schemas.openxmlformats.org/officeDocument/2006/relationships/officeDocument" Target="/ppt/presentation.xml" Id="R58df2c16d22e47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9e0ff4bd4248f5"/>
  </p:sldMasterIdLst>
  <p:notesMasterIdLst>
    <p:notesMasterId xmlns:r="http://schemas.openxmlformats.org/officeDocument/2006/relationships" r:id="Rbf42472c98684126"/>
  </p:notesMasterIdLst>
  <p:sldIdLst>
    <p:sldId xmlns:r="http://schemas.openxmlformats.org/officeDocument/2006/relationships" id="256" r:id="R644edd9d13a749af"/>
    <p:sldId xmlns:r="http://schemas.openxmlformats.org/officeDocument/2006/relationships" id="257" r:id="R12bfcc9f156144f5"/>
    <p:sldId xmlns:r="http://schemas.openxmlformats.org/officeDocument/2006/relationships" id="258" r:id="R8e5751a07d634a5e"/>
    <p:sldId xmlns:r="http://schemas.openxmlformats.org/officeDocument/2006/relationships" id="259" r:id="R2a7fcb1da6764ddb"/>
    <p:sldId xmlns:r="http://schemas.openxmlformats.org/officeDocument/2006/relationships" id="260" r:id="R2e96a24eeeee4c91"/>
    <p:sldId xmlns:r="http://schemas.openxmlformats.org/officeDocument/2006/relationships" id="261" r:id="R574af4ef5a3748c2"/>
    <p:sldId xmlns:r="http://schemas.openxmlformats.org/officeDocument/2006/relationships" id="262" r:id="Rdfcfb6f6c6fd4fad"/>
    <p:sldId xmlns:r="http://schemas.openxmlformats.org/officeDocument/2006/relationships" id="263" r:id="R15a44d2727ba442a"/>
    <p:sldId xmlns:r="http://schemas.openxmlformats.org/officeDocument/2006/relationships" id="264" r:id="R56894c350b724f22"/>
    <p:sldId xmlns:r="http://schemas.openxmlformats.org/officeDocument/2006/relationships" id="265" r:id="R3c5a37fa775f426e"/>
    <p:sldId xmlns:r="http://schemas.openxmlformats.org/officeDocument/2006/relationships" id="266" r:id="Rfa29954a43f442f5"/>
    <p:sldId xmlns:r="http://schemas.openxmlformats.org/officeDocument/2006/relationships" id="267" r:id="R51a7239057804347"/>
    <p:sldId xmlns:r="http://schemas.openxmlformats.org/officeDocument/2006/relationships" id="268" r:id="R9d85b11e677a4d30"/>
    <p:sldId xmlns:r="http://schemas.openxmlformats.org/officeDocument/2006/relationships" id="269" r:id="R5da2dc89cb6945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4cf40e2bae4a20" /><Relationship Type="http://schemas.openxmlformats.org/officeDocument/2006/relationships/slideMaster" Target="/ppt/slideMasters/slideMaster1.xml" Id="R429e0ff4bd4248f5" /><Relationship Type="http://schemas.openxmlformats.org/officeDocument/2006/relationships/notesMaster" Target="/ppt/notesMasters/notesMaster1.xml" Id="Rbf42472c98684126" /><Relationship Type="http://schemas.openxmlformats.org/officeDocument/2006/relationships/presProps" Target="/ppt/presProps.xml" Id="R76ca85edbae844fd" /><Relationship Type="http://schemas.openxmlformats.org/officeDocument/2006/relationships/tableStyles" Target="/ppt/tableStyles.xml" Id="R08d65274c2e74a95" /><Relationship Type="http://schemas.openxmlformats.org/officeDocument/2006/relationships/slide" Target="/ppt/slides/slide1.xml" Id="R644edd9d13a749af" /><Relationship Type="http://schemas.openxmlformats.org/officeDocument/2006/relationships/slide" Target="/ppt/slides/slide2.xml" Id="R12bfcc9f156144f5" /><Relationship Type="http://schemas.openxmlformats.org/officeDocument/2006/relationships/slide" Target="/ppt/slides/slide3.xml" Id="R8e5751a07d634a5e" /><Relationship Type="http://schemas.openxmlformats.org/officeDocument/2006/relationships/slide" Target="/ppt/slides/slide4.xml" Id="R2a7fcb1da6764ddb" /><Relationship Type="http://schemas.openxmlformats.org/officeDocument/2006/relationships/slide" Target="/ppt/slides/slide5.xml" Id="R2e96a24eeeee4c91" /><Relationship Type="http://schemas.openxmlformats.org/officeDocument/2006/relationships/slide" Target="/ppt/slides/slide6.xml" Id="R574af4ef5a3748c2" /><Relationship Type="http://schemas.openxmlformats.org/officeDocument/2006/relationships/slide" Target="/ppt/slides/slide7.xml" Id="Rdfcfb6f6c6fd4fad" /><Relationship Type="http://schemas.openxmlformats.org/officeDocument/2006/relationships/slide" Target="/ppt/slides/slide8.xml" Id="R15a44d2727ba442a" /><Relationship Type="http://schemas.openxmlformats.org/officeDocument/2006/relationships/slide" Target="/ppt/slides/slide9.xml" Id="R56894c350b724f22" /><Relationship Type="http://schemas.openxmlformats.org/officeDocument/2006/relationships/slide" Target="/ppt/slides/slide10.xml" Id="R3c5a37fa775f426e" /><Relationship Type="http://schemas.openxmlformats.org/officeDocument/2006/relationships/slide" Target="/ppt/slides/slide11.xml" Id="Rfa29954a43f442f5" /><Relationship Type="http://schemas.openxmlformats.org/officeDocument/2006/relationships/slide" Target="/ppt/slides/slide12.xml" Id="R51a7239057804347" /><Relationship Type="http://schemas.openxmlformats.org/officeDocument/2006/relationships/slide" Target="/ppt/slides/slide13.xml" Id="R9d85b11e677a4d30" /><Relationship Type="http://schemas.openxmlformats.org/officeDocument/2006/relationships/slide" Target="/ppt/slides/slide14.xml" Id="R5da2dc89cb69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17023a39642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d44699c96e4b87" /><Relationship Type="http://schemas.openxmlformats.org/officeDocument/2006/relationships/notesMaster" Target="/ppt/notesMasters/notesMaster1.xml" Id="R085dc2e3280d41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2652dddab143c4" /><Relationship Type="http://schemas.openxmlformats.org/officeDocument/2006/relationships/notesMaster" Target="/ppt/notesMasters/notesMaster1.xml" Id="R08acd5dfc6074b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98ba9a3c78424d" /><Relationship Type="http://schemas.openxmlformats.org/officeDocument/2006/relationships/notesMaster" Target="/ppt/notesMasters/notesMaster1.xml" Id="R3405e990dce1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eba3fd0e1848b0" /><Relationship Type="http://schemas.openxmlformats.org/officeDocument/2006/relationships/notesMaster" Target="/ppt/notesMasters/notesMaster1.xml" Id="R6ebe36f0630e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5b9f9560244a0" /><Relationship Type="http://schemas.openxmlformats.org/officeDocument/2006/relationships/notesMaster" Target="/ppt/notesMasters/notesMaster1.xml" Id="R5c993d6cb01d47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2522b87cc7499c" /><Relationship Type="http://schemas.openxmlformats.org/officeDocument/2006/relationships/notesMaster" Target="/ppt/notesMasters/notesMaster1.xml" Id="R263e5b30e10e48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932c5b5e0d42c2" /><Relationship Type="http://schemas.openxmlformats.org/officeDocument/2006/relationships/notesMaster" Target="/ppt/notesMasters/notesMaster1.xml" Id="R15c4b2061c1a4a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54912cb1294e7e" /><Relationship Type="http://schemas.openxmlformats.org/officeDocument/2006/relationships/notesMaster" Target="/ppt/notesMasters/notesMaster1.xml" Id="R2ac316be632e46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8092d054aa4c10" /><Relationship Type="http://schemas.openxmlformats.org/officeDocument/2006/relationships/notesMaster" Target="/ppt/notesMasters/notesMaster1.xml" Id="Ref63481bcfc94e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3f300d6b6fb40f0" /><Relationship Type="http://schemas.openxmlformats.org/officeDocument/2006/relationships/notesMaster" Target="/ppt/notesMasters/notesMaster1.xml" Id="R33a0d1954c5847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24c453c0be4137" /><Relationship Type="http://schemas.openxmlformats.org/officeDocument/2006/relationships/notesMaster" Target="/ppt/notesMasters/notesMaster1.xml" Id="Rc627beb7811c4e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7ba55cc3244418" /><Relationship Type="http://schemas.openxmlformats.org/officeDocument/2006/relationships/notesMaster" Target="/ppt/notesMasters/notesMaster1.xml" Id="R00edad7597be47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5674fcdf994935" /><Relationship Type="http://schemas.openxmlformats.org/officeDocument/2006/relationships/notesMaster" Target="/ppt/notesMasters/notesMaster1.xml" Id="R1316c92862394c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719128b289b4e3b" /><Relationship Type="http://schemas.openxmlformats.org/officeDocument/2006/relationships/notesMaster" Target="/ppt/notesMasters/notesMaster1.xml" Id="R585dda4c1efa4e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logo: https://www.canva.com/design/DAHXurKIW_A/BS53ujNLW1SkX3ZlK56Xug/edit. Repository color source: frontend/src/styles/tokens.css. Typography reference: https://github.com/adobe-fonts/source-sans. Motion implementation research: https://react.dev/reference/react/useEffect, https://developer.mozilla.org/en-US/docs/Web/API/Element/animate, https://web.dev/articles/animations-guide, https://www.w3.org/WAI/WCAG22/Understanding/animation-from-interactions.html. All work is an exploration pending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155e39d27d48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e183c9bc44d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994a45c9b47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7025b473649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52f4f822d47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63865acbe4a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917D4-FAF3-453A-8A1F-A92EA27C56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40DFBF-E355-464C-AE20-6F57DB508B4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A55B25-4394-42A4-85DC-63B9954A0B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0761D9-85F9-48EF-B9BB-50F4D0467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13055E-39C3-4AC8-829C-67048D2052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0E48A7-3B61-4BEE-AB0D-0B65CDACEC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FFC83F-859F-49E5-9B5C-8BE30EF8EB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4CEF526-091F-406B-AE69-3D73198B7A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7AD3DE-B827-480C-80AC-84F03615E2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E18A76-BC0E-4820-8ABE-A07E55A961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98c6c2164f45de" /><Relationship Type="http://schemas.openxmlformats.org/officeDocument/2006/relationships/slideLayout" Target="/ppt/slideLayouts/slideLayout1.xml" Id="R60cf7d271b5e4f8d" /><Relationship Type="http://schemas.openxmlformats.org/officeDocument/2006/relationships/slideLayout" Target="/ppt/slideLayouts/slideLayout2.xml" Id="R7106d7da40544626" /><Relationship Type="http://schemas.openxmlformats.org/officeDocument/2006/relationships/slideLayout" Target="/ppt/slideLayouts/slideLayout3.xml" Id="R1005c0ed55fd4f4c" /><Relationship Type="http://schemas.openxmlformats.org/officeDocument/2006/relationships/slideLayout" Target="/ppt/slideLayouts/slideLayout4.xml" Id="R8073c01caec242cf" /><Relationship Type="http://schemas.openxmlformats.org/officeDocument/2006/relationships/slideLayout" Target="/ppt/slideLayouts/slideLayout5.xml" Id="R1c1421b593bd44d2" /><Relationship Type="http://schemas.openxmlformats.org/officeDocument/2006/relationships/slideLayout" Target="/ppt/slideLayouts/slideLayout6.xml" Id="R660bfe03820945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cf7d271b5e4f8d"/>
    <p:sldLayoutId xmlns:r="http://schemas.openxmlformats.org/officeDocument/2006/relationships" id="2147483650" r:id="R7106d7da40544626"/>
    <p:sldLayoutId xmlns:r="http://schemas.openxmlformats.org/officeDocument/2006/relationships" id="2147483651" r:id="R1005c0ed55fd4f4c"/>
    <p:sldLayoutId xmlns:r="http://schemas.openxmlformats.org/officeDocument/2006/relationships" id="2147483652" r:id="R8073c01caec242cf"/>
    <p:sldLayoutId xmlns:r="http://schemas.openxmlformats.org/officeDocument/2006/relationships" id="2147483653" r:id="R1c1421b593bd44d2"/>
    <p:sldLayoutId xmlns:r="http://schemas.openxmlformats.org/officeDocument/2006/relationships" id="2147483654" r:id="R660bfe03820945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4edc1ba6e5404d" /><Relationship Type="http://schemas.openxmlformats.org/officeDocument/2006/relationships/image" Target="/ppt/media/image.png" Id="R020054e3449c4452" /><Relationship Type="http://schemas.openxmlformats.org/officeDocument/2006/relationships/notesSlide" Target="/ppt/notesSlides/notesSlide1.xml" Id="R19cd7690dc804e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88979ff9b647d4" /><Relationship Type="http://schemas.openxmlformats.org/officeDocument/2006/relationships/notesSlide" Target="/ppt/notesSlides/notesSlide2.xml" Id="Rcb1fda1bdd26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91eeb9ce8a4210" /><Relationship Type="http://schemas.openxmlformats.org/officeDocument/2006/relationships/notesSlide" Target="/ppt/notesSlides/notesSlide3.xml" Id="R5ece01e3c31b45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4979ff77d14057" /><Relationship Type="http://schemas.openxmlformats.org/officeDocument/2006/relationships/notesSlide" Target="/ppt/notesSlides/notesSlide4.xml" Id="Rd1fbe7b0954a41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1089414c942fb" /><Relationship Type="http://schemas.openxmlformats.org/officeDocument/2006/relationships/notesSlide" Target="/ppt/notesSlides/notesSlide5.xml" Id="Re6a471aeec7b43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a1d2d49ea14db8" /><Relationship Type="http://schemas.openxmlformats.org/officeDocument/2006/relationships/notesSlide" Target="/ppt/notesSlides/notesSlide6.xml" Id="R0d49af5a4e3747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65a1492d64ebf" /><Relationship Type="http://schemas.openxmlformats.org/officeDocument/2006/relationships/notesSlide" Target="/ppt/notesSlides/notesSlide7.xml" Id="R39488bb3a1474c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d0ef80df8747d3" /><Relationship Type="http://schemas.openxmlformats.org/officeDocument/2006/relationships/notesSlide" Target="/ppt/notesSlides/notesSlide8.xml" Id="R8260821ac83f47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6dbf17387443b6" /><Relationship Type="http://schemas.openxmlformats.org/officeDocument/2006/relationships/notesSlide" Target="/ppt/notesSlides/notesSlide9.xml" Id="R139ac01815344c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e7a09d77643c1" /><Relationship Type="http://schemas.openxmlformats.org/officeDocument/2006/relationships/notesSlide" Target="/ppt/notesSlides/notesSlide10.xml" Id="R58537f71f41142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223b01e1464ae9" /><Relationship Type="http://schemas.openxmlformats.org/officeDocument/2006/relationships/notesSlide" Target="/ppt/notesSlides/notesSlide11.xml" Id="R18449ad1cc5542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7ec2ee79b4874" /><Relationship Type="http://schemas.openxmlformats.org/officeDocument/2006/relationships/notesSlide" Target="/ppt/notesSlides/notesSlide12.xml" Id="R5ef82a4d83f14c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80086fd9f3446b" /><Relationship Type="http://schemas.openxmlformats.org/officeDocument/2006/relationships/notesSlide" Target="/ppt/notesSlides/notesSlide13.xml" Id="R0d38efdceabd46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c1a467fe041f2" /><Relationship Type="http://schemas.openxmlformats.org/officeDocument/2006/relationships/notesSlide" Target="/ppt/notesSlides/notesSlide14.xml" Id="R41632362c3d34b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F3AA6-48E0-41A1-BE52-B315164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Wukna brand exploration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1FFCB-AC69-4D25-A0DD-89C16687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Approved reference and editable fold reconstruction. All treatments await visual approval.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0AD8C-6950-4673-BB85-B18340970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054e3449c4452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714750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C5C6346F-1C05-4E66-BA22-D3413257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553393"/>
          </a:solidFill>
          <a:ln xmlns:a="http://schemas.openxmlformats.org/drawingml/2006/main" w="0">
            <a:noFill/>
          </a:ln>
        </p:spPr>
      </p:sp>
      <p:sp>
        <p:nvSpPr>
          <p:cNvPr id="5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E55F1EA9-FC3A-495A-889B-8010505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553393"/>
          </a:solidFill>
          <a:ln xmlns:a="http://schemas.openxmlformats.org/drawingml/2006/main" w="0">
            <a:noFill/>
          </a:ln>
        </p:spPr>
      </p:sp>
      <p:sp>
        <p:nvSpPr>
          <p:cNvPr id="6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5BEBEEAF-7036-42D4-8CDC-1F3B2FB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251644"/>
          </a:solidFill>
          <a:ln xmlns:a="http://schemas.openxmlformats.org/drawingml/2006/main" w="0">
            <a:noFill/>
          </a:ln>
        </p:spPr>
      </p:sp>
      <p:sp>
        <p:nvSpPr>
          <p:cNvPr id="7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6C5B3BC8-3336-421A-AECD-3352E7A0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3080"/>
          </a:solidFill>
          <a:ln xmlns:a="http://schemas.openxmlformats.org/drawingml/2006/main" w="0">
            <a:noFill/>
          </a:ln>
        </p:spPr>
      </p:sp>
      <p:sp>
        <p:nvSpPr>
          <p:cNvPr id="8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6DDB60E9-06CD-44B4-B19B-3D6D21E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E7DDF2"/>
          </a:solidFill>
          <a:ln xmlns:a="http://schemas.openxmlformats.org/drawingml/2006/main" w="0">
            <a:noFill/>
          </a:ln>
        </p:spPr>
      </p:sp>
      <p:sp>
        <p:nvSpPr>
          <p:cNvPr id="9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0F281FB4-1DA4-4F5C-B5DB-823482F0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CCB7E8"/>
          </a:solidFill>
          <a:ln xmlns:a="http://schemas.openxmlformats.org/drawingml/2006/main" w="0">
            <a:noFill/>
          </a:ln>
        </p:spPr>
      </p:sp>
      <p:sp>
        <p:nvSpPr>
          <p:cNvPr id="10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29C3DE0D-82F2-433F-BA37-E8738275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1A1A1A"/>
          </a:solidFill>
          <a:ln xmlns:a="http://schemas.openxmlformats.org/drawingml/2006/main" w="0">
            <a:noFill/>
          </a:ln>
        </p:spPr>
      </p:sp>
      <p:sp>
        <p:nvSpPr>
          <p:cNvPr id="11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01B65F30-F6FE-4534-A75C-C606A2C9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</a:ln>
        </p:spPr>
      </p:sp>
      <p:sp>
        <p:nvSpPr>
          <p:cNvPr id="12" name="Wukna foot">
            <a:extLst xmlns:a="http://schemas.openxmlformats.org/drawingml/2006/main">
              <a:ext uri="{FF2B5EF4-FFF2-40B4-BE49-F238E27FC236}">
                <a16:creationId xmlns:a16="http://schemas.microsoft.com/office/drawing/2014/main" id="{B1357740-1CA5-45D6-A771-12C89BFD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4286250" cy="302558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51D0C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2FDBF-A2DA-40DD-AF72-DEE68EB9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Approved original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3A5FC-EE03-49AD-9D26-79A652F1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5785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Editable geometry / flat color study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C3033-38A1-4A06-9DC1-0E5E73C1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674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Reconstruction from Canva raster evidence. Rounded tips and eight faces remain independently editable.</a:t>
            </a:r>
          </a:p>
        </p:txBody>
      </p:sp>
    </p:spTree>
    <p:extLst>
      <p:ext uri="{BB962C8B-B14F-4D97-AF65-F5344CB8AC3E}">
        <p14:creationId xmlns:p14="http://schemas.microsoft.com/office/powerpoint/2010/main" val="1353723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213603-60F9-4024-B911-F2DA2D58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Three design directions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6EA0E-E631-46D7-8482-5974C1B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Recommended: Gathered Moss for everyday interfaces, with restrained assembly motion.</a:t>
            </a:r>
          </a:p>
        </p:txBody>
      </p:sp>
      <p:sp>
        <p:nvSpPr>
          <p:cNvPr id="3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1513E26E-1BF1-4C31-9315-F4BD69DC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81339CA9-570C-41C2-89E0-C91BF488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938AF40C-DB55-4A84-8D01-C0C7213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E25FAF7E-51A8-4B48-8548-382DAD80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6A328BB8-A703-4EB4-8475-BC3BE45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FC9FE507-1432-4989-9EEB-BE7F2D3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29024E40-9050-4034-A1AB-BEEC7DE5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559A6771-39AC-4008-8B48-78FE8908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foot">
            <a:extLst xmlns:a="http://schemas.openxmlformats.org/drawingml/2006/main">
              <a:ext uri="{FF2B5EF4-FFF2-40B4-BE49-F238E27FC236}">
                <a16:creationId xmlns:a16="http://schemas.microsoft.com/office/drawing/2014/main" id="{2FD5E643-4C03-4A7A-9205-E2B4418C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92E3327C-17EB-49DA-9391-17E0B410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3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18028EE9-5E92-4EC3-8BA0-7F63EA60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4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FF099856-F1FB-43AE-B3BF-0182B527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5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13C495F3-2B32-4254-BAF2-B31DDA4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6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8DB0C42E-9481-40C0-A091-9C57B021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6D9C0-D959-4FBB-99F5-307210C3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Gathered Moss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94A57-E4E1-4495-AF65-AE589182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Simple theme-aware color. Quiet, familiar, and strongest at small sizes.</a:t>
            </a:r>
          </a:p>
        </p:txBody>
      </p:sp>
      <p:sp>
        <p:nvSpPr>
          <p:cNvPr id="19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5F520573-43B4-4DC8-9212-4C87B63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0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0A184338-F88E-418F-B323-BFAA24A1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1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6B85C082-2641-44B1-9B9D-B22832EE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152019"/>
          </a:solidFill>
          <a:ln xmlns:a="http://schemas.openxmlformats.org/drawingml/2006/main" w="0">
            <a:noFill/>
          </a:ln>
        </p:spPr>
      </p:sp>
      <p:sp>
        <p:nvSpPr>
          <p:cNvPr id="22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2484BC62-60E4-42DE-A1E9-CE5DA69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76B58"/>
          </a:solidFill>
          <a:ln xmlns:a="http://schemas.openxmlformats.org/drawingml/2006/main" w="0">
            <a:noFill/>
          </a:ln>
        </p:spPr>
      </p:sp>
      <p:sp>
        <p:nvSpPr>
          <p:cNvPr id="23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87168873-73C6-4063-B851-ACE6603B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95A582"/>
          </a:solidFill>
          <a:ln xmlns:a="http://schemas.openxmlformats.org/drawingml/2006/main" w="0">
            <a:noFill/>
          </a:ln>
        </p:spPr>
      </p:sp>
      <p:sp>
        <p:nvSpPr>
          <p:cNvPr id="24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A42B42E4-D37A-4E61-8206-ED261A73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76B58"/>
          </a:solidFill>
          <a:ln xmlns:a="http://schemas.openxmlformats.org/drawingml/2006/main" w="0">
            <a:noFill/>
          </a:ln>
        </p:spPr>
      </p:sp>
      <p:sp>
        <p:nvSpPr>
          <p:cNvPr id="25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EA9C1A2F-256C-48A4-B25F-2B0440F5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6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3598ED2A-AD23-4CBD-9E9D-FCB5B0A5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152019"/>
          </a:solidFill>
          <a:ln xmlns:a="http://schemas.openxmlformats.org/drawingml/2006/main" w="0">
            <a:noFill/>
          </a:ln>
        </p:spPr>
      </p:sp>
      <p:sp>
        <p:nvSpPr>
          <p:cNvPr id="27" name="Wukna foot">
            <a:extLst xmlns:a="http://schemas.openxmlformats.org/drawingml/2006/main">
              <a:ext uri="{FF2B5EF4-FFF2-40B4-BE49-F238E27FC236}">
                <a16:creationId xmlns:a16="http://schemas.microsoft.com/office/drawing/2014/main" id="{B3632502-2470-4B67-B08E-AAB0BC0F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76B58"/>
          </a:solidFill>
          <a:ln xmlns:a="http://schemas.openxmlformats.org/drawingml/2006/main" w="0">
            <a:noFill/>
          </a:ln>
        </p:spPr>
      </p:sp>
      <p:sp>
        <p:nvSpPr>
          <p:cNvPr id="28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97DCBC25-0C4B-4502-A0CB-9AB6CE41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9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AE547008-DC1F-48A4-A609-D02A66BF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0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FC2F3873-15AD-4656-A168-221A8053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1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59D18AF3-BF9E-4A45-ADF5-585B4DC7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2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77E2D08D-4216-4185-B0ED-9EB50883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3810"/>
            <a:ext cx="1440663" cy="364871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C85E9-2990-40B4-84D9-8735DB1F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67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Tonal Folds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7A167F-D992-4341-9007-886BBB85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720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Coordinated shades expose the folds. Use at 48 px and larger.</a:t>
            </a:r>
          </a:p>
        </p:txBody>
      </p:sp>
      <p:sp>
        <p:nvSpPr>
          <p:cNvPr id="35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69DCAFA1-C7B0-4702-B65F-D1F4B58A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6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A4A04E86-8F40-4F96-8FB9-5F47BC41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7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068D024E-EB25-4497-9801-F632755F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8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999EA233-83B5-4C93-A014-7FD95017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9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61B39FE3-4578-48E5-A6ED-C953B692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0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40D65506-5804-435E-90E5-0D72CB90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1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031798C4-6D66-4947-BC0C-0E67CDC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2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8EF02FB7-6A70-4288-A90A-0D3C81D7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3" name="Wukna foot">
            <a:extLst xmlns:a="http://schemas.openxmlformats.org/drawingml/2006/main">
              <a:ext uri="{FF2B5EF4-FFF2-40B4-BE49-F238E27FC236}">
                <a16:creationId xmlns:a16="http://schemas.microsoft.com/office/drawing/2014/main" id="{149B3B0F-3146-4096-B3D5-2019E26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52625"/>
            <a:ext cx="2190750" cy="15464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4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8F328183-EF60-460C-BA08-89D9E977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762250" cy="626894"/>
          </a:xfrm>
          <a:custGeom xmlns:a="http://schemas.openxmlformats.org/drawingml/2006/main">
            <a:pathLst>
              <a:path w="2686050" h="609600">
                <a:moveTo>
                  <a:pt x="28575" y="161925"/>
                </a:moveTo>
                <a:lnTo>
                  <a:pt x="104775" y="142875"/>
                </a:lnTo>
                <a:lnTo>
                  <a:pt x="171450" y="361950"/>
                </a:lnTo>
                <a:lnTo>
                  <a:pt x="247650" y="219075"/>
                </a:lnTo>
                <a:lnTo>
                  <a:pt x="304800" y="219075"/>
                </a:lnTo>
                <a:lnTo>
                  <a:pt x="381000" y="361950"/>
                </a:lnTo>
                <a:lnTo>
                  <a:pt x="438150" y="142875"/>
                </a:lnTo>
                <a:lnTo>
                  <a:pt x="514350" y="161925"/>
                </a:lnTo>
                <a:lnTo>
                  <a:pt x="419100" y="476250"/>
                </a:lnTo>
                <a:lnTo>
                  <a:pt x="361950" y="495300"/>
                </a:lnTo>
                <a:lnTo>
                  <a:pt x="276225" y="342900"/>
                </a:lnTo>
                <a:lnTo>
                  <a:pt x="190500" y="495300"/>
                </a:lnTo>
                <a:lnTo>
                  <a:pt x="133350" y="476250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5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ED899BE1-FC7B-488B-8ACA-CA22723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762250" cy="626894"/>
          </a:xfrm>
          <a:custGeom xmlns:a="http://schemas.openxmlformats.org/drawingml/2006/main">
            <a:pathLst>
              <a:path w="2686050" h="609600">
                <a:moveTo>
                  <a:pt x="600075" y="161925"/>
                </a:moveTo>
                <a:lnTo>
                  <a:pt x="676275" y="161925"/>
                </a:lnTo>
                <a:lnTo>
                  <a:pt x="676275" y="352425"/>
                </a:lnTo>
                <a:quadBezTo>
                  <a:pt x="676275" y="419100"/>
                  <a:pt x="762000" y="419100"/>
                </a:quadBezTo>
                <a:quadBezTo>
                  <a:pt x="847725" y="419100"/>
                  <a:pt x="847725" y="352425"/>
                </a:quadBezTo>
                <a:lnTo>
                  <a:pt x="847725" y="161925"/>
                </a:lnTo>
                <a:lnTo>
                  <a:pt x="923925" y="161925"/>
                </a:lnTo>
                <a:lnTo>
                  <a:pt x="923925" y="352425"/>
                </a:lnTo>
                <a:quadBezTo>
                  <a:pt x="923925" y="495300"/>
                  <a:pt x="762000" y="495300"/>
                </a:quadBezTo>
                <a:quadBezTo>
                  <a:pt x="600075" y="495300"/>
                  <a:pt x="600075" y="352425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6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45E987A4-E710-435B-9370-BBE4554A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762250" cy="626894"/>
          </a:xfrm>
          <a:custGeom xmlns:a="http://schemas.openxmlformats.org/drawingml/2006/main">
            <a:pathLst>
              <a:path w="2686050" h="609600">
                <a:moveTo>
                  <a:pt x="1057275" y="66675"/>
                </a:moveTo>
                <a:lnTo>
                  <a:pt x="1133475" y="66675"/>
                </a:lnTo>
                <a:lnTo>
                  <a:pt x="1133475" y="504825"/>
                </a:lnTo>
                <a:lnTo>
                  <a:pt x="1057275" y="5048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7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6217D52E-EC0B-4261-99AE-99409989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762250" cy="626894"/>
          </a:xfrm>
          <a:custGeom xmlns:a="http://schemas.openxmlformats.org/drawingml/2006/main">
            <a:pathLst>
              <a:path w="2686050" h="609600">
                <a:moveTo>
                  <a:pt x="1323975" y="133350"/>
                </a:moveTo>
                <a:lnTo>
                  <a:pt x="1371600" y="190500"/>
                </a:lnTo>
                <a:lnTo>
                  <a:pt x="1181100" y="323850"/>
                </a:lnTo>
                <a:lnTo>
                  <a:pt x="1400175" y="438150"/>
                </a:lnTo>
                <a:lnTo>
                  <a:pt x="1352550" y="504825"/>
                </a:lnTo>
                <a:lnTo>
                  <a:pt x="1095375" y="352425"/>
                </a:lnTo>
                <a:lnTo>
                  <a:pt x="1095375" y="29527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8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0B235875-5D6D-4037-8624-2D126167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762250" cy="626894"/>
          </a:xfrm>
          <a:custGeom xmlns:a="http://schemas.openxmlformats.org/drawingml/2006/main">
            <a:pathLst>
              <a:path w="2686050" h="609600">
                <a:moveTo>
                  <a:pt x="1504950" y="171450"/>
                </a:moveTo>
                <a:lnTo>
                  <a:pt x="1581150" y="171450"/>
                </a:lnTo>
                <a:lnTo>
                  <a:pt x="1581150" y="504825"/>
                </a:lnTo>
                <a:lnTo>
                  <a:pt x="1504950" y="5048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9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9567EF81-1503-4F34-896D-E04D77EB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762250" cy="626894"/>
          </a:xfrm>
          <a:custGeom xmlns:a="http://schemas.openxmlformats.org/drawingml/2006/main">
            <a:pathLst>
              <a:path w="2686050" h="609600">
                <a:moveTo>
                  <a:pt x="1504950" y="276225"/>
                </a:moveTo>
                <a:quadBezTo>
                  <a:pt x="1504950" y="123825"/>
                  <a:pt x="1676400" y="123825"/>
                </a:quadBezTo>
                <a:quadBezTo>
                  <a:pt x="1847850" y="123825"/>
                  <a:pt x="1847850" y="285750"/>
                </a:quadBezTo>
                <a:lnTo>
                  <a:pt x="1847850" y="504825"/>
                </a:lnTo>
                <a:lnTo>
                  <a:pt x="1771650" y="504825"/>
                </a:lnTo>
                <a:lnTo>
                  <a:pt x="1771650" y="285750"/>
                </a:lnTo>
                <a:quadBezTo>
                  <a:pt x="1771650" y="200025"/>
                  <a:pt x="1676400" y="200025"/>
                </a:quadBezTo>
                <a:quadBezTo>
                  <a:pt x="1581150" y="200025"/>
                  <a:pt x="1581150" y="285750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50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D90F6B12-8EBD-420B-BE8F-3D0C1899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81425"/>
            <a:ext cx="2762250" cy="626894"/>
          </a:xfrm>
          <a:custGeom xmlns:a="http://schemas.openxmlformats.org/drawingml/2006/main">
            <a:pathLst>
              <a:path w="2686050" h="609600">
                <a:moveTo>
                  <a:pt x="2333625" y="152400"/>
                </a:moveTo>
                <a:lnTo>
                  <a:pt x="2333625" y="504825"/>
                </a:lnTo>
                <a:lnTo>
                  <a:pt x="2257425" y="504825"/>
                </a:lnTo>
                <a:lnTo>
                  <a:pt x="2257425" y="447675"/>
                </a:lnTo>
                <a:quadBezTo>
                  <a:pt x="2200275" y="514350"/>
                  <a:pt x="2095500" y="485775"/>
                </a:quadBezTo>
                <a:quadBezTo>
                  <a:pt x="1971675" y="457200"/>
                  <a:pt x="1971675" y="314325"/>
                </a:quadBezTo>
                <a:quadBezTo>
                  <a:pt x="1971675" y="152400"/>
                  <a:pt x="2095500" y="133350"/>
                </a:quadBezTo>
                <a:quadBezTo>
                  <a:pt x="2200275" y="104775"/>
                  <a:pt x="2257425" y="171450"/>
                </a:quadBezTo>
                <a:lnTo>
                  <a:pt x="2257425" y="152400"/>
                </a:lnTo>
                <a:close/>
                <a:moveTo>
                  <a:pt x="2257425" y="304800"/>
                </a:moveTo>
                <a:quadBezTo>
                  <a:pt x="2257425" y="209550"/>
                  <a:pt x="2152650" y="209550"/>
                </a:quadBezTo>
                <a:quadBezTo>
                  <a:pt x="2047875" y="209550"/>
                  <a:pt x="2047875" y="314325"/>
                </a:quadBezTo>
                <a:quadBezTo>
                  <a:pt x="2047875" y="419100"/>
                  <a:pt x="2152650" y="419100"/>
                </a:quadBezTo>
                <a:quadBezTo>
                  <a:pt x="2257425" y="419100"/>
                  <a:pt x="2257425" y="304800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957D69-0BE7-4D97-8D6C-9242800F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Fold Lettering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0A504E-9271-456F-B47E-CD981FDC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72075"/>
            <a:ext cx="323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Angular letter details add character. More small-size refinement before adoption.</a:t>
            </a:r>
          </a:p>
        </p:txBody>
      </p:sp>
    </p:spTree>
    <p:extLst>
      <p:ext uri="{BB962C8B-B14F-4D97-AF65-F5344CB8AC3E}">
        <p14:creationId xmlns:p14="http://schemas.microsoft.com/office/powerpoint/2010/main" val="671287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EFAA6B-B423-449F-AF57-0984DB1D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Actual application colors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3EDF3-6750-4286-A3C9-1CC5C939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Source: frontend/src/styles/tokens.css. Fixed brand exports use the baseline palette.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E9AA9-FC40-4035-9A79-FC24E508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6653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08684-E51D-4533-AC9E-E8ED039F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Light primary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84D0E-5F16-42FD-92EE-EE6E35E2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#486653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E8825-6F24-4722-A027-B4705B7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0AA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46008-1689-414E-9B95-CDA41E5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Dark primary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E81BC-8FD9-4105-90E1-A02A41C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#A5C0AA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CB823-170D-40CF-B4B1-84B48562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3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0D72E-0B08-49DC-9664-8C0E9D17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Light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4601C-982E-4DCF-8A04-27D29760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#F6F6F3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090DE-AD4C-463C-8906-AD0D990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8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0956C6-E685-4BF7-B406-4F6F3CE8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Dark canvas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389AA-1793-4CFF-BF31-8EA7E095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81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#171B18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2A6F5-11F0-4588-A585-039D08CA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815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E2DC9-A1E9-4B85-AE15-410AAE22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Light ink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9E4A4-E409-4D79-9FDA-351258F3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#171815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E3CA7-ADEE-4377-927F-219AEE5E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5277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FA4A2-0081-4E8F-9D29-8270F7B2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147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Dark 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8EBC7-42CF-45AC-BFEA-83B5C33F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195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#F5F6F2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B7830C-FCD7-42AF-8220-9D8D2736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5277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19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29B2D-8359-4272-8FFD-48232579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147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Canopy pigment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7CD85-BAE0-43E7-8F89-EA399C51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95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#152019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FB25F6-282E-4030-A4D1-C668C8B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52775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A582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395F8-AB8E-4002-9ACC-4C8FEA79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1477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Moss pigment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9B5E3-C51B-407E-9B99-386EB07C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219575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#95A582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F0B15-BAF0-4F85-9E38-2E399DC1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C82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04861-6010-48C8-A4FA-8AE65206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Sky identity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65DBD-BEFE-4E7E-AB52-46436D70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#406C82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428AB-FF9B-4E19-8C69-6232B3DC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910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526B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DBF80A-B054-4A02-B2A2-4A40A91A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530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Berry identity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5B4C6-3FD6-4CE7-ABF5-6A1870B8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57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#85526B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238200-05A5-4DC5-BECE-46CF43D8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910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AD01C5-4042-4D28-A8E0-E7D42DC3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Light surface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CB1A3E-0975-482D-AF48-0B31CC32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57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#FFFFFF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567BF8-ADCB-43BF-9F22-DFB4C60E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91050"/>
            <a:ext cx="2438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0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8F0970-B00E-49E2-81E5-B569FBF0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530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Dark surface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E2E937-BD5A-4BBA-BA51-FE91A31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5785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#202620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EAD751-D621-421C-B1DA-0284F797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User-selected palettes override semantic tokens. Primary in the application should follow the resolved --primary.</a:t>
            </a:r>
          </a:p>
        </p:txBody>
      </p:sp>
    </p:spTree>
    <p:extLst>
      <p:ext uri="{BB962C8B-B14F-4D97-AF65-F5344CB8AC3E}">
        <p14:creationId xmlns:p14="http://schemas.microsoft.com/office/powerpoint/2010/main" val="21181509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82C85A8-10EC-4996-8B3E-907CDE11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Light theme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84A73-46C3-4BA8-B595-527619AF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 single color preserves the W at small sizes. High contrast uses the existing foreground token.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68301-B116-4364-AAC3-6C50079F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A4825DEB-2F5A-419C-9FAC-32D36B4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64894CA0-8008-4EE7-881C-A8685A93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01034046-DA70-441E-BFF2-C324EA66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27D913A3-D408-4D37-BA23-FDC0A457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6FB32CC0-8D97-4BE2-BF6E-13DBD78D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C7B7318B-EF9B-4104-BB06-6BBF4416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AB6A09E2-3BF2-414E-B2E7-91C47CA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3A23A9FE-479C-4FE2-B871-282B7CCA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Wukna foot">
            <a:extLst xmlns:a="http://schemas.openxmlformats.org/drawingml/2006/main">
              <a:ext uri="{FF2B5EF4-FFF2-40B4-BE49-F238E27FC236}">
                <a16:creationId xmlns:a16="http://schemas.microsoft.com/office/drawing/2014/main" id="{D5EFFEAA-04D3-469E-936B-BFCC4C61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3C11A-5FC2-4982-95C6-62239F19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Primary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1DB6D-3FEA-4294-9859-C53A7BE5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8F54485A-5ED0-49E1-B14A-544C8559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6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6A841A58-BB6D-473C-A8C5-EA3D6FD3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7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83B9E5D8-1FB6-4F3E-8CF6-A31CBC11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8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A4B4CF49-95DB-4849-A43F-929F68DA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9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2A5867B4-512E-44C7-9EDE-11199C8D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0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3AC59399-E67B-4261-B333-4EFAC63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1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FB6A3FCD-F13E-435B-A6EB-ACEF76CE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06C0D7FF-B1E2-4F43-A1E4-A35739DF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3" name="Wukna foot">
            <a:extLst xmlns:a="http://schemas.openxmlformats.org/drawingml/2006/main">
              <a:ext uri="{FF2B5EF4-FFF2-40B4-BE49-F238E27FC236}">
                <a16:creationId xmlns:a16="http://schemas.microsoft.com/office/drawing/2014/main" id="{AAA3FDDE-17C9-4331-B72C-4FE45B13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E8A8A1-C5F2-41FD-9EE2-55181E0C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Monochrome black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A6717-D78D-4AA8-964D-0BDF10B7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14500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46B39191-D921-44E7-B0B5-1081213A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7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BE61DDD3-D1D0-445B-AC78-EB1B1FA9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8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4854450B-5A4F-4F3B-84C8-91E17D01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9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C51EEEF3-103E-4D75-844F-6E82CF07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0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128DC592-1041-4337-A53F-70AAC9D3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1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8A15EAD8-D299-49D9-903C-206011FC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2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AFF0BA29-0D65-4F73-8FD3-658813A8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3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5258A98C-2FF6-43B6-97C6-A870CC4B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4" name="Wukna foot">
            <a:extLst xmlns:a="http://schemas.openxmlformats.org/drawingml/2006/main">
              <a:ext uri="{FF2B5EF4-FFF2-40B4-BE49-F238E27FC236}">
                <a16:creationId xmlns:a16="http://schemas.microsoft.com/office/drawing/2014/main" id="{5AD26B13-2FA9-44DE-9256-F6080FC1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1981200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30AC0B-CD55-49E8-B1D0-4BA7BB2D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High contrast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47DAB1-D3C2-47A3-B65D-45CFF104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0601D58F-CC7B-46C7-BB5A-26B089BC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8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14E2BE53-3CE8-4A70-9F0A-49D22C3B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9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9FEC84E2-C008-4A58-825A-8CE2FF96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152019"/>
          </a:solidFill>
          <a:ln xmlns:a="http://schemas.openxmlformats.org/drawingml/2006/main" w="0">
            <a:noFill/>
          </a:ln>
        </p:spPr>
      </p:sp>
      <p:sp>
        <p:nvSpPr>
          <p:cNvPr id="40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8B697749-4561-46AE-88E0-CB635FD1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76B58"/>
          </a:solidFill>
          <a:ln xmlns:a="http://schemas.openxmlformats.org/drawingml/2006/main" w="0">
            <a:noFill/>
          </a:ln>
        </p:spPr>
      </p:sp>
      <p:sp>
        <p:nvSpPr>
          <p:cNvPr id="41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3D33834C-95AB-45AC-89CF-1A33E9F4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95A582"/>
          </a:solidFill>
          <a:ln xmlns:a="http://schemas.openxmlformats.org/drawingml/2006/main" w="0">
            <a:noFill/>
          </a:ln>
        </p:spPr>
      </p:sp>
      <p:sp>
        <p:nvSpPr>
          <p:cNvPr id="42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A61913DF-C290-4868-847C-DF0EC97C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76B58"/>
          </a:solidFill>
          <a:ln xmlns:a="http://schemas.openxmlformats.org/drawingml/2006/main" w="0">
            <a:noFill/>
          </a:ln>
        </p:spPr>
      </p:sp>
      <p:sp>
        <p:nvSpPr>
          <p:cNvPr id="43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B88F1048-6525-475F-B5B4-E56F05FE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4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BFDE33E1-4C92-4C3A-9C0C-19E3CEC8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152019"/>
          </a:solidFill>
          <a:ln xmlns:a="http://schemas.openxmlformats.org/drawingml/2006/main" w="0">
            <a:noFill/>
          </a:ln>
        </p:spPr>
      </p:sp>
      <p:sp>
        <p:nvSpPr>
          <p:cNvPr id="45" name="Wukna foot">
            <a:extLst xmlns:a="http://schemas.openxmlformats.org/drawingml/2006/main">
              <a:ext uri="{FF2B5EF4-FFF2-40B4-BE49-F238E27FC236}">
                <a16:creationId xmlns:a16="http://schemas.microsoft.com/office/drawing/2014/main" id="{9EAF47D1-7600-45CD-A78D-5E114C95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76B5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414B5B-9577-4976-AB50-1CB188EE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Tonal folds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42DCDB-588D-4F2E-90A1-6F626234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4812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7E0E0D16-12D7-4C5D-BBA8-E7B87744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49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A0B1015C-A938-4997-A913-492D1BDC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0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5CBD1AAB-7F96-4AB5-92FD-91C1C206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1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2A726284-F97C-4495-97DD-40EE07BE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2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B1887554-59D8-4C55-9E21-A7A9DECD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3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F13BDC99-8041-4C99-B619-7ED4436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4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5C121403-0CD1-4FE5-807C-79B671B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5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F52F86A7-CCB5-4172-947C-8298061E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6" name="Wukna foot">
            <a:extLst xmlns:a="http://schemas.openxmlformats.org/drawingml/2006/main">
              <a:ext uri="{FF2B5EF4-FFF2-40B4-BE49-F238E27FC236}">
                <a16:creationId xmlns:a16="http://schemas.microsoft.com/office/drawing/2014/main" id="{9CAA7C2D-CBC8-485B-86E0-1C2AC7BD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03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06C82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5DBBAC-930F-447C-BA98-8C985AD1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810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Sky accent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BEE63C-3E41-4E47-B59D-18A9FD21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48125"/>
            <a:ext cx="3333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DE68DDEC-BA57-4963-B4AD-B63BBDAE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0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F96E0B56-4C2E-41CD-B130-FE55F038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1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3CCA3B61-102A-4252-BCE7-12FB9554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2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00730365-3604-4F7D-A5DB-B19F9191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3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0FD44306-60A4-403E-806E-31CC45D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4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AEC9329E-83BD-42FD-B7A1-317B96F7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5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E3381C1C-391C-4CD7-87F8-E9C49063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6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3D1400A3-7342-460E-97D3-4EE577B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7" name="Wukna foot">
            <a:extLst xmlns:a="http://schemas.openxmlformats.org/drawingml/2006/main">
              <a:ext uri="{FF2B5EF4-FFF2-40B4-BE49-F238E27FC236}">
                <a16:creationId xmlns:a16="http://schemas.microsoft.com/office/drawing/2014/main" id="{4502B37F-FEA1-4412-A943-4BD0D6FF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4314825"/>
            <a:ext cx="1476375" cy="1042147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85526B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E15975-E55D-4A8C-87CA-95C6631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10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Berry accent</a:t>
            </a:r>
          </a:p>
        </p:txBody>
      </p:sp>
    </p:spTree>
    <p:extLst>
      <p:ext uri="{BB962C8B-B14F-4D97-AF65-F5344CB8AC3E}">
        <p14:creationId xmlns:p14="http://schemas.microsoft.com/office/powerpoint/2010/main" val="1329686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B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6D8068-18A6-4156-8F3E-5064DDC3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Dark theme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1FA322-3F46-4325-B468-B0EF2D6E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B2BBB1"/>
                </a:solidFill>
                <a:latin typeface="Inter"/>
                <a:ea typeface="Inter"/>
                <a:cs typeface="Inter"/>
              </a:rPr>
              <a:t>Use --primary or --foreground on the actual dark canvas and surface.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1D45B-3B55-4C4F-A5C7-8A988774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257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0"/>
          </a:solidFill>
          <a:ln xmlns:a="http://schemas.openxmlformats.org/drawingml/2006/main" w="0">
            <a:noFill/>
          </a:ln>
        </p:spPr>
      </p:sp>
      <p:sp>
        <p:nvSpPr>
          <p:cNvPr id="4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AB2D4DF2-CA4C-4BDC-B916-3549037A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5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0EE48FF0-BA36-4D10-9CCD-2310FB56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6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E8B66AF8-54A4-4D63-89C6-3453FB4B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7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D73A083E-E0E0-4580-9F31-AEB06AA1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8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14E51D13-B6A7-44AC-A9AF-3E29D46B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9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0B1A025F-E5CD-4939-A3A2-5532C3E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10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9C431236-DDDF-4775-8B56-835606C4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11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2B01A0B5-D506-4A78-9750-87B00E6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12" name="Wukna foot">
            <a:extLst xmlns:a="http://schemas.openxmlformats.org/drawingml/2006/main">
              <a:ext uri="{FF2B5EF4-FFF2-40B4-BE49-F238E27FC236}">
                <a16:creationId xmlns:a16="http://schemas.microsoft.com/office/drawing/2014/main" id="{74BCE0F7-8404-452E-8E04-B1E8145B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C5A8F-8D4C-4C32-8CB6-CB4BBF4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Primary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B6555-44D8-4545-90B5-5EDD0977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66875"/>
            <a:ext cx="5257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0"/>
          </a:solidFill>
          <a:ln xmlns:a="http://schemas.openxmlformats.org/drawingml/2006/main" w="0">
            <a:noFill/>
          </a:ln>
        </p:spPr>
      </p:sp>
      <p:sp>
        <p:nvSpPr>
          <p:cNvPr id="15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A2CA11AF-2DF3-4814-864F-89538F2D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A9DF0099-6C12-415D-9D89-842B3FB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6DA9C43A-0833-4353-86D9-A58600FA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86820B51-5643-4B75-A679-4BF466D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059C0599-5F2F-424B-A26B-59DD840E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78128737-795F-44BC-92B1-D65F26FA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A6B30817-98F9-44F9-A166-F8ECF9B7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16DF3E2C-5F6F-4424-A4AA-7F724245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Wukna foot">
            <a:extLst xmlns:a="http://schemas.openxmlformats.org/drawingml/2006/main">
              <a:ext uri="{FF2B5EF4-FFF2-40B4-BE49-F238E27FC236}">
                <a16:creationId xmlns:a16="http://schemas.microsoft.com/office/drawing/2014/main" id="{3218AA44-29BF-4AC6-AAC7-E80963AD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087EC-01B2-4D57-8761-182CE794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Monochrome white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90AEC-2009-4F47-A259-8EC6EAF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257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0"/>
          </a:solidFill>
          <a:ln xmlns:a="http://schemas.openxmlformats.org/drawingml/2006/main" w="0">
            <a:noFill/>
          </a:ln>
        </p:spPr>
      </p:sp>
      <p:sp>
        <p:nvSpPr>
          <p:cNvPr id="26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978B6F73-1E4A-481E-961E-6E1F5B74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7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AB84B90F-B313-4FFF-94F9-214FECB9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8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FF2C1B6C-C9AD-4E22-8150-53A3B3DB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29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2F635950-9493-445C-8097-96A10E80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30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8D06991F-453F-4BF5-A30A-84DFF14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31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90B7B957-8AFD-4B03-A6FC-C4E9B2F9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32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275C72A6-3964-4B58-8EA2-9B369F63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33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D6B3F5C1-D09A-4F26-9D4D-9B8C553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34" name="Wukna foot">
            <a:extLst xmlns:a="http://schemas.openxmlformats.org/drawingml/2006/main">
              <a:ext uri="{FF2B5EF4-FFF2-40B4-BE49-F238E27FC236}">
                <a16:creationId xmlns:a16="http://schemas.microsoft.com/office/drawing/2014/main" id="{7B7D7DEC-3623-4747-A2F4-A3F13CF4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B4EF4A-CD80-4FA8-A974-680966FB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High contrast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F80EA-7ECF-4235-A0BD-B6A69DA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52578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0"/>
          </a:solidFill>
          <a:ln xmlns:a="http://schemas.openxmlformats.org/drawingml/2006/main" w="0">
            <a:noFill/>
          </a:ln>
        </p:spPr>
      </p:sp>
      <p:sp>
        <p:nvSpPr>
          <p:cNvPr id="37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0C783D00-A77E-441F-ADAD-65DFBBD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38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F9523EEB-E90D-48A5-AAFA-7F117CA1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39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B05A6031-2D2A-48CC-B75D-21530E5B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91BD9E"/>
          </a:solidFill>
          <a:ln xmlns:a="http://schemas.openxmlformats.org/drawingml/2006/main" w="0">
            <a:noFill/>
          </a:ln>
        </p:spPr>
      </p:sp>
      <p:sp>
        <p:nvSpPr>
          <p:cNvPr id="40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D7E9835F-ED41-4941-A3F7-725EC2F0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B2BBB1"/>
          </a:solidFill>
          <a:ln xmlns:a="http://schemas.openxmlformats.org/drawingml/2006/main" w="0">
            <a:noFill/>
          </a:ln>
        </p:spPr>
      </p:sp>
      <p:sp>
        <p:nvSpPr>
          <p:cNvPr id="41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4A93F39D-03B9-4010-B9DC-46DBE603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42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B98CEA04-5CA2-4618-A8AF-7F353A41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B2BBB1"/>
          </a:solidFill>
          <a:ln xmlns:a="http://schemas.openxmlformats.org/drawingml/2006/main" w="0">
            <a:noFill/>
          </a:ln>
        </p:spPr>
      </p:sp>
      <p:sp>
        <p:nvSpPr>
          <p:cNvPr id="43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EEEFC3F4-3BF5-40C3-B095-2AA4273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4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F03C007E-B172-4B1B-B1C2-A2D188FC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91BD9E"/>
          </a:solidFill>
          <a:ln xmlns:a="http://schemas.openxmlformats.org/drawingml/2006/main" w="0">
            <a:noFill/>
          </a:ln>
        </p:spPr>
      </p:sp>
      <p:sp>
        <p:nvSpPr>
          <p:cNvPr id="45" name="Wukna foot">
            <a:extLst xmlns:a="http://schemas.openxmlformats.org/drawingml/2006/main">
              <a:ext uri="{FF2B5EF4-FFF2-40B4-BE49-F238E27FC236}">
                <a16:creationId xmlns:a16="http://schemas.microsoft.com/office/drawing/2014/main" id="{4DCFCB1D-B9BE-4A37-A10C-60B478B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91BD9E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82A651-40D5-4061-AB1E-EC4649E9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10250"/>
            <a:ext cx="525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Tonal folds</a:t>
            </a:r>
          </a:p>
        </p:txBody>
      </p:sp>
    </p:spTree>
    <p:extLst>
      <p:ext uri="{BB962C8B-B14F-4D97-AF65-F5344CB8AC3E}">
        <p14:creationId xmlns:p14="http://schemas.microsoft.com/office/powerpoint/2010/main" val="1166398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9EFEC-548A-4FF8-A61D-C245704B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Wordmark typography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FD641-009C-438D-AB3F-2AE2684C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Lowercase wukna. Optical spacing and open counters carry the wordmark.</a:t>
            </a:r>
          </a:p>
        </p:txBody>
      </p:sp>
      <p:sp>
        <p:nvSpPr>
          <p:cNvPr id="3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F4796DF0-BE50-4152-8E9C-83F1FEFC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9765"/>
            <a:ext cx="2438046" cy="617474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36D0F813-928F-4DE4-B961-0872780F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9765"/>
            <a:ext cx="2438046" cy="617474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5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95FE34AD-A4CE-49E2-9471-C52A9958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9765"/>
            <a:ext cx="2438046" cy="617474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7AFCE250-A538-4317-9B89-8BB0FF64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9765"/>
            <a:ext cx="2438046" cy="617474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7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A16DF054-7BCF-43CD-BD76-67C2BC24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9765"/>
            <a:ext cx="2438046" cy="617474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E7D95-7EE0-4138-87EF-D042F8BC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526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 / Soft geometric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3B2BA-68F1-4F06-AB90-B9A1644C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47925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Instrument Sans 600. Already self-hosted in Wukna. Recommended.</a:t>
            </a:r>
          </a:p>
        </p:txBody>
      </p:sp>
      <p:sp>
        <p:nvSpPr>
          <p:cNvPr id="10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9EA6C498-D9BF-49FD-BD19-64B3731A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1390"/>
            <a:ext cx="2223745" cy="602163"/>
          </a:xfrm>
          <a:custGeom xmlns:a="http://schemas.openxmlformats.org/drawingml/2006/main">
            <a:pathLst>
              <a:path w="25269825" h="6842766">
                <a:moveTo>
                  <a:pt x="1238250" y="6728466"/>
                </a:moveTo>
                <a:lnTo>
                  <a:pt x="0" y="2051691"/>
                </a:lnTo>
                <a:lnTo>
                  <a:pt x="1123950" y="2051691"/>
                </a:lnTo>
                <a:lnTo>
                  <a:pt x="1676400" y="4480566"/>
                </a:lnTo>
                <a:quadBezTo>
                  <a:pt x="1752600" y="4794891"/>
                  <a:pt x="1809750" y="5123504"/>
                </a:quadBezTo>
                <a:quadBezTo>
                  <a:pt x="1866900" y="5452116"/>
                  <a:pt x="1914525" y="5871216"/>
                </a:quadBezTo>
                <a:lnTo>
                  <a:pt x="1952625" y="5871216"/>
                </a:lnTo>
                <a:quadBezTo>
                  <a:pt x="2019300" y="5452116"/>
                  <a:pt x="2081213" y="5123504"/>
                </a:quadBezTo>
                <a:quadBezTo>
                  <a:pt x="2143125" y="4794891"/>
                  <a:pt x="2209800" y="4480566"/>
                </a:quadBezTo>
                <a:lnTo>
                  <a:pt x="2781300" y="2051691"/>
                </a:lnTo>
                <a:lnTo>
                  <a:pt x="3924300" y="2051691"/>
                </a:lnTo>
                <a:lnTo>
                  <a:pt x="4514850" y="4480566"/>
                </a:lnTo>
                <a:quadBezTo>
                  <a:pt x="4591050" y="4794891"/>
                  <a:pt x="4657725" y="5123504"/>
                </a:quadBezTo>
                <a:quadBezTo>
                  <a:pt x="4724400" y="5452116"/>
                  <a:pt x="4791075" y="5871216"/>
                </a:quadBezTo>
                <a:lnTo>
                  <a:pt x="4829175" y="5871216"/>
                </a:lnTo>
                <a:quadBezTo>
                  <a:pt x="4895850" y="5452116"/>
                  <a:pt x="4948238" y="5123504"/>
                </a:quadBezTo>
                <a:quadBezTo>
                  <a:pt x="5000625" y="4794891"/>
                  <a:pt x="5067300" y="4480566"/>
                </a:quadBezTo>
                <a:lnTo>
                  <a:pt x="5619750" y="2051691"/>
                </a:lnTo>
                <a:lnTo>
                  <a:pt x="6667500" y="2051691"/>
                </a:lnTo>
                <a:lnTo>
                  <a:pt x="5476875" y="6728466"/>
                </a:lnTo>
                <a:lnTo>
                  <a:pt x="4076700" y="6728466"/>
                </a:lnTo>
                <a:lnTo>
                  <a:pt x="3600450" y="4556766"/>
                </a:lnTo>
                <a:quadBezTo>
                  <a:pt x="3533775" y="4242441"/>
                  <a:pt x="3471863" y="3923354"/>
                </a:quadBezTo>
                <a:quadBezTo>
                  <a:pt x="3409950" y="3604266"/>
                  <a:pt x="3352800" y="3147066"/>
                </a:quadBezTo>
                <a:lnTo>
                  <a:pt x="3314700" y="3147066"/>
                </a:lnTo>
                <a:quadBezTo>
                  <a:pt x="3257550" y="3604266"/>
                  <a:pt x="3200400" y="3923354"/>
                </a:quadBezTo>
                <a:quadBezTo>
                  <a:pt x="3143250" y="4242441"/>
                  <a:pt x="3067050" y="4556766"/>
                </a:quadBezTo>
                <a:lnTo>
                  <a:pt x="2590800" y="672846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1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6C08D616-28F1-4154-80A5-0A785B9E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1390"/>
            <a:ext cx="2223745" cy="602163"/>
          </a:xfrm>
          <a:custGeom xmlns:a="http://schemas.openxmlformats.org/drawingml/2006/main">
            <a:pathLst>
              <a:path w="25269825" h="6842766">
                <a:moveTo>
                  <a:pt x="8601075" y="6842766"/>
                </a:moveTo>
                <a:quadBezTo>
                  <a:pt x="7848600" y="6842766"/>
                  <a:pt x="7505700" y="6356991"/>
                </a:quadBezTo>
                <a:quadBezTo>
                  <a:pt x="7162800" y="5871216"/>
                  <a:pt x="7162800" y="4985391"/>
                </a:quadBezTo>
                <a:lnTo>
                  <a:pt x="7162800" y="2051691"/>
                </a:lnTo>
                <a:lnTo>
                  <a:pt x="8258175" y="2051691"/>
                </a:lnTo>
                <a:lnTo>
                  <a:pt x="8258175" y="4842516"/>
                </a:lnTo>
                <a:quadBezTo>
                  <a:pt x="8258175" y="5423541"/>
                  <a:pt x="8429625" y="5661666"/>
                </a:quadBezTo>
                <a:quadBezTo>
                  <a:pt x="8601075" y="5899791"/>
                  <a:pt x="8982075" y="5899791"/>
                </a:quadBezTo>
                <a:quadBezTo>
                  <a:pt x="9286875" y="5899791"/>
                  <a:pt x="9520238" y="5747391"/>
                </a:quadBezTo>
                <a:quadBezTo>
                  <a:pt x="9753600" y="5594991"/>
                  <a:pt x="10020300" y="5252091"/>
                </a:quadBezTo>
                <a:lnTo>
                  <a:pt x="10020300" y="2051691"/>
                </a:lnTo>
                <a:lnTo>
                  <a:pt x="11115675" y="2051691"/>
                </a:lnTo>
                <a:lnTo>
                  <a:pt x="11115675" y="6728466"/>
                </a:lnTo>
                <a:lnTo>
                  <a:pt x="10220325" y="6728466"/>
                </a:lnTo>
                <a:lnTo>
                  <a:pt x="10134600" y="6042666"/>
                </a:lnTo>
                <a:lnTo>
                  <a:pt x="10106025" y="6042666"/>
                </a:lnTo>
                <a:quadBezTo>
                  <a:pt x="9801225" y="6404616"/>
                  <a:pt x="9439275" y="6623691"/>
                </a:quadBezTo>
                <a:quadBezTo>
                  <a:pt x="9077325" y="6842766"/>
                  <a:pt x="8601075" y="684276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2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EEEE7DDE-3DA5-43A5-B4AC-D60F395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1390"/>
            <a:ext cx="2223745" cy="602163"/>
          </a:xfrm>
          <a:custGeom xmlns:a="http://schemas.openxmlformats.org/drawingml/2006/main">
            <a:pathLst>
              <a:path w="25269825" h="6842766">
                <a:moveTo>
                  <a:pt x="12127239" y="6728466"/>
                </a:moveTo>
                <a:lnTo>
                  <a:pt x="12127239" y="0"/>
                </a:lnTo>
                <a:lnTo>
                  <a:pt x="13213056" y="0"/>
                </a:lnTo>
                <a:lnTo>
                  <a:pt x="13213056" y="4191042"/>
                </a:lnTo>
                <a:lnTo>
                  <a:pt x="13243536" y="4191042"/>
                </a:lnTo>
                <a:lnTo>
                  <a:pt x="14954252" y="2049791"/>
                </a:lnTo>
                <a:lnTo>
                  <a:pt x="16165797" y="2049791"/>
                </a:lnTo>
                <a:lnTo>
                  <a:pt x="14573222" y="3966216"/>
                </a:lnTo>
                <a:lnTo>
                  <a:pt x="16329631" y="6728466"/>
                </a:lnTo>
                <a:lnTo>
                  <a:pt x="15137137" y="6728466"/>
                </a:lnTo>
                <a:lnTo>
                  <a:pt x="13933161" y="4697716"/>
                </a:lnTo>
                <a:lnTo>
                  <a:pt x="13213056" y="5528314"/>
                </a:lnTo>
                <a:lnTo>
                  <a:pt x="13213056" y="672846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3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6D2F20AA-AF36-4D3A-8917-C8F533F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1390"/>
            <a:ext cx="2223745" cy="602163"/>
          </a:xfrm>
          <a:custGeom xmlns:a="http://schemas.openxmlformats.org/drawingml/2006/main">
            <a:pathLst>
              <a:path w="25269825" h="6842766">
                <a:moveTo>
                  <a:pt x="16718289" y="6728466"/>
                </a:moveTo>
                <a:lnTo>
                  <a:pt x="16718289" y="2049791"/>
                </a:lnTo>
                <a:lnTo>
                  <a:pt x="17617422" y="2049791"/>
                </a:lnTo>
                <a:lnTo>
                  <a:pt x="17701240" y="2682255"/>
                </a:lnTo>
                <a:lnTo>
                  <a:pt x="17731720" y="2682255"/>
                </a:lnTo>
                <a:quadBezTo>
                  <a:pt x="18047952" y="2371738"/>
                  <a:pt x="18418475" y="2153614"/>
                </a:quadBezTo>
                <a:quadBezTo>
                  <a:pt x="18788997" y="1935491"/>
                  <a:pt x="19267152" y="1935491"/>
                </a:quadBezTo>
                <a:quadBezTo>
                  <a:pt x="20023435" y="1935491"/>
                  <a:pt x="20365382" y="2422216"/>
                </a:quadBezTo>
                <a:quadBezTo>
                  <a:pt x="20707329" y="2908941"/>
                  <a:pt x="20707329" y="3794766"/>
                </a:quadBezTo>
                <a:lnTo>
                  <a:pt x="20707329" y="6728466"/>
                </a:lnTo>
                <a:lnTo>
                  <a:pt x="19610082" y="6728466"/>
                </a:lnTo>
                <a:lnTo>
                  <a:pt x="19610082" y="3935732"/>
                </a:lnTo>
                <a:quadBezTo>
                  <a:pt x="19610082" y="3356604"/>
                  <a:pt x="19438629" y="3116569"/>
                </a:quadBezTo>
                <a:quadBezTo>
                  <a:pt x="19267175" y="2876534"/>
                  <a:pt x="18882357" y="2876534"/>
                </a:quadBezTo>
                <a:quadBezTo>
                  <a:pt x="18573742" y="2876534"/>
                  <a:pt x="18341327" y="3025127"/>
                </a:quadBezTo>
                <a:quadBezTo>
                  <a:pt x="18108912" y="3173720"/>
                  <a:pt x="17815536" y="3459477"/>
                </a:quadBezTo>
                <a:lnTo>
                  <a:pt x="17815536" y="672846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4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9FFBD1E7-FE12-4EFC-B81B-8A018817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1390"/>
            <a:ext cx="2223745" cy="602163"/>
          </a:xfrm>
          <a:custGeom xmlns:a="http://schemas.openxmlformats.org/drawingml/2006/main">
            <a:pathLst>
              <a:path w="25269825" h="6842766">
                <a:moveTo>
                  <a:pt x="22802850" y="6842766"/>
                </a:moveTo>
                <a:quadBezTo>
                  <a:pt x="22393275" y="6842766"/>
                  <a:pt x="22078950" y="6671316"/>
                </a:quadBezTo>
                <a:quadBezTo>
                  <a:pt x="21764625" y="6499866"/>
                  <a:pt x="21588413" y="6190304"/>
                </a:quadBezTo>
                <a:quadBezTo>
                  <a:pt x="21412200" y="5880741"/>
                  <a:pt x="21412200" y="5471166"/>
                </a:quadBezTo>
                <a:quadBezTo>
                  <a:pt x="21412200" y="4680591"/>
                  <a:pt x="22074188" y="4275779"/>
                </a:quadBezTo>
                <a:quadBezTo>
                  <a:pt x="22736175" y="3870966"/>
                  <a:pt x="24174450" y="3718566"/>
                </a:quadBezTo>
                <a:quadBezTo>
                  <a:pt x="24164925" y="3480441"/>
                  <a:pt x="24083963" y="3280416"/>
                </a:quadBezTo>
                <a:quadBezTo>
                  <a:pt x="24003000" y="3080391"/>
                  <a:pt x="23817263" y="2961329"/>
                </a:quadBezTo>
                <a:quadBezTo>
                  <a:pt x="23631525" y="2842266"/>
                  <a:pt x="23317200" y="2842266"/>
                </a:quadBezTo>
                <a:quadBezTo>
                  <a:pt x="22974300" y="2842266"/>
                  <a:pt x="22645688" y="2966091"/>
                </a:quadBezTo>
                <a:quadBezTo>
                  <a:pt x="22317075" y="3089916"/>
                  <a:pt x="22002750" y="3280416"/>
                </a:quadBezTo>
                <a:lnTo>
                  <a:pt x="21602700" y="2537466"/>
                </a:lnTo>
                <a:quadBezTo>
                  <a:pt x="21859875" y="2375541"/>
                  <a:pt x="22164675" y="2237429"/>
                </a:quadBezTo>
                <a:quadBezTo>
                  <a:pt x="22469475" y="2099316"/>
                  <a:pt x="22812375" y="2018354"/>
                </a:quadBezTo>
                <a:quadBezTo>
                  <a:pt x="23155275" y="1937391"/>
                  <a:pt x="23526750" y="1937391"/>
                </a:quadBezTo>
                <a:quadBezTo>
                  <a:pt x="24107775" y="1937391"/>
                  <a:pt x="24493538" y="2170754"/>
                </a:quadBezTo>
                <a:quadBezTo>
                  <a:pt x="24879300" y="2404116"/>
                  <a:pt x="25074563" y="2856554"/>
                </a:quadBezTo>
                <a:quadBezTo>
                  <a:pt x="25269825" y="3308991"/>
                  <a:pt x="25269825" y="3966216"/>
                </a:quadBezTo>
                <a:lnTo>
                  <a:pt x="25269825" y="6728466"/>
                </a:lnTo>
                <a:lnTo>
                  <a:pt x="24364950" y="6728466"/>
                </a:lnTo>
                <a:lnTo>
                  <a:pt x="24288750" y="6214116"/>
                </a:lnTo>
                <a:lnTo>
                  <a:pt x="24250650" y="6214116"/>
                </a:lnTo>
                <a:quadBezTo>
                  <a:pt x="23926800" y="6480816"/>
                  <a:pt x="23574375" y="6661791"/>
                </a:quadBezTo>
                <a:quadBezTo>
                  <a:pt x="23221950" y="6842766"/>
                  <a:pt x="22802850" y="6842766"/>
                </a:quadBezTo>
                <a:close/>
                <a:moveTo>
                  <a:pt x="23145750" y="5947416"/>
                </a:moveTo>
                <a:quadBezTo>
                  <a:pt x="23431500" y="5947416"/>
                  <a:pt x="23674388" y="5828354"/>
                </a:quadBezTo>
                <a:quadBezTo>
                  <a:pt x="23917275" y="5709291"/>
                  <a:pt x="24174450" y="5471166"/>
                </a:quadBezTo>
                <a:lnTo>
                  <a:pt x="24174450" y="4480566"/>
                </a:lnTo>
                <a:quadBezTo>
                  <a:pt x="23536275" y="4556766"/>
                  <a:pt x="23164800" y="4680591"/>
                </a:quadBezTo>
                <a:quadBezTo>
                  <a:pt x="22793325" y="4804416"/>
                  <a:pt x="22636163" y="4980629"/>
                </a:quadBezTo>
                <a:quadBezTo>
                  <a:pt x="22479000" y="5156841"/>
                  <a:pt x="22479000" y="5394966"/>
                </a:quadBezTo>
                <a:quadBezTo>
                  <a:pt x="22479000" y="5690241"/>
                  <a:pt x="22669500" y="5818829"/>
                </a:quadBezTo>
                <a:quadBezTo>
                  <a:pt x="22860000" y="5947416"/>
                  <a:pt x="23145750" y="594741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111CF2-77ED-4C02-8099-61DFFE3E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9567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B / Contemporary humanist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87D76E-59F0-4833-913B-43550504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0050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Source Sans 3. More conversational letter rhythm. Additional font approval required.</a:t>
            </a:r>
          </a:p>
        </p:txBody>
      </p:sp>
      <p:sp>
        <p:nvSpPr>
          <p:cNvPr id="17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8D18C7CA-4B70-46FB-8ABA-C28DCA96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810000" cy="864681"/>
          </a:xfrm>
          <a:custGeom xmlns:a="http://schemas.openxmlformats.org/drawingml/2006/main">
            <a:pathLst>
              <a:path w="2686050" h="609600">
                <a:moveTo>
                  <a:pt x="28575" y="161925"/>
                </a:moveTo>
                <a:lnTo>
                  <a:pt x="104775" y="142875"/>
                </a:lnTo>
                <a:lnTo>
                  <a:pt x="171450" y="361950"/>
                </a:lnTo>
                <a:lnTo>
                  <a:pt x="247650" y="219075"/>
                </a:lnTo>
                <a:lnTo>
                  <a:pt x="304800" y="219075"/>
                </a:lnTo>
                <a:lnTo>
                  <a:pt x="381000" y="361950"/>
                </a:lnTo>
                <a:lnTo>
                  <a:pt x="438150" y="142875"/>
                </a:lnTo>
                <a:lnTo>
                  <a:pt x="514350" y="161925"/>
                </a:lnTo>
                <a:lnTo>
                  <a:pt x="419100" y="476250"/>
                </a:lnTo>
                <a:lnTo>
                  <a:pt x="361950" y="495300"/>
                </a:lnTo>
                <a:lnTo>
                  <a:pt x="276225" y="342900"/>
                </a:lnTo>
                <a:lnTo>
                  <a:pt x="190500" y="495300"/>
                </a:lnTo>
                <a:lnTo>
                  <a:pt x="133350" y="476250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8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2AB5A37A-3B14-4137-9B77-40044A0A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810000" cy="864681"/>
          </a:xfrm>
          <a:custGeom xmlns:a="http://schemas.openxmlformats.org/drawingml/2006/main">
            <a:pathLst>
              <a:path w="2686050" h="609600">
                <a:moveTo>
                  <a:pt x="600075" y="161925"/>
                </a:moveTo>
                <a:lnTo>
                  <a:pt x="676275" y="161925"/>
                </a:lnTo>
                <a:lnTo>
                  <a:pt x="676275" y="352425"/>
                </a:lnTo>
                <a:quadBezTo>
                  <a:pt x="676275" y="419100"/>
                  <a:pt x="762000" y="419100"/>
                </a:quadBezTo>
                <a:quadBezTo>
                  <a:pt x="847725" y="419100"/>
                  <a:pt x="847725" y="352425"/>
                </a:quadBezTo>
                <a:lnTo>
                  <a:pt x="847725" y="161925"/>
                </a:lnTo>
                <a:lnTo>
                  <a:pt x="923925" y="161925"/>
                </a:lnTo>
                <a:lnTo>
                  <a:pt x="923925" y="352425"/>
                </a:lnTo>
                <a:quadBezTo>
                  <a:pt x="923925" y="495300"/>
                  <a:pt x="762000" y="495300"/>
                </a:quadBezTo>
                <a:quadBezTo>
                  <a:pt x="600075" y="495300"/>
                  <a:pt x="600075" y="352425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9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3BE24268-478A-439F-AF4B-7CD3FEA9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810000" cy="864681"/>
          </a:xfrm>
          <a:custGeom xmlns:a="http://schemas.openxmlformats.org/drawingml/2006/main">
            <a:pathLst>
              <a:path w="2686050" h="609600">
                <a:moveTo>
                  <a:pt x="1057275" y="66675"/>
                </a:moveTo>
                <a:lnTo>
                  <a:pt x="1133475" y="66675"/>
                </a:lnTo>
                <a:lnTo>
                  <a:pt x="1133475" y="504825"/>
                </a:lnTo>
                <a:lnTo>
                  <a:pt x="1057275" y="5048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0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6CB9DA37-957B-414B-93D3-43371E2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810000" cy="864681"/>
          </a:xfrm>
          <a:custGeom xmlns:a="http://schemas.openxmlformats.org/drawingml/2006/main">
            <a:pathLst>
              <a:path w="2686050" h="609600">
                <a:moveTo>
                  <a:pt x="1323975" y="133350"/>
                </a:moveTo>
                <a:lnTo>
                  <a:pt x="1371600" y="190500"/>
                </a:lnTo>
                <a:lnTo>
                  <a:pt x="1181100" y="323850"/>
                </a:lnTo>
                <a:lnTo>
                  <a:pt x="1400175" y="438150"/>
                </a:lnTo>
                <a:lnTo>
                  <a:pt x="1352550" y="504825"/>
                </a:lnTo>
                <a:lnTo>
                  <a:pt x="1095375" y="352425"/>
                </a:lnTo>
                <a:lnTo>
                  <a:pt x="1095375" y="29527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1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91F66653-3634-49CC-B191-377D675D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810000" cy="864681"/>
          </a:xfrm>
          <a:custGeom xmlns:a="http://schemas.openxmlformats.org/drawingml/2006/main">
            <a:pathLst>
              <a:path w="2686050" h="609600">
                <a:moveTo>
                  <a:pt x="1504950" y="171450"/>
                </a:moveTo>
                <a:lnTo>
                  <a:pt x="1581150" y="171450"/>
                </a:lnTo>
                <a:lnTo>
                  <a:pt x="1581150" y="504825"/>
                </a:lnTo>
                <a:lnTo>
                  <a:pt x="1504950" y="504825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2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626881D2-9D9E-459B-A98E-DCE1EB7A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810000" cy="864681"/>
          </a:xfrm>
          <a:custGeom xmlns:a="http://schemas.openxmlformats.org/drawingml/2006/main">
            <a:pathLst>
              <a:path w="2686050" h="609600">
                <a:moveTo>
                  <a:pt x="1504950" y="276225"/>
                </a:moveTo>
                <a:quadBezTo>
                  <a:pt x="1504950" y="123825"/>
                  <a:pt x="1676400" y="123825"/>
                </a:quadBezTo>
                <a:quadBezTo>
                  <a:pt x="1847850" y="123825"/>
                  <a:pt x="1847850" y="285750"/>
                </a:quadBezTo>
                <a:lnTo>
                  <a:pt x="1847850" y="504825"/>
                </a:lnTo>
                <a:lnTo>
                  <a:pt x="1771650" y="504825"/>
                </a:lnTo>
                <a:lnTo>
                  <a:pt x="1771650" y="285750"/>
                </a:lnTo>
                <a:quadBezTo>
                  <a:pt x="1771650" y="200025"/>
                  <a:pt x="1676400" y="200025"/>
                </a:quadBezTo>
                <a:quadBezTo>
                  <a:pt x="1581150" y="200025"/>
                  <a:pt x="1581150" y="285750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3" name="Custom wordmark editable letter">
            <a:extLst xmlns:a="http://schemas.openxmlformats.org/drawingml/2006/main">
              <a:ext uri="{FF2B5EF4-FFF2-40B4-BE49-F238E27FC236}">
                <a16:creationId xmlns:a16="http://schemas.microsoft.com/office/drawing/2014/main" id="{AEE963B8-802C-469F-A028-08D71EF6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3810000" cy="864681"/>
          </a:xfrm>
          <a:custGeom xmlns:a="http://schemas.openxmlformats.org/drawingml/2006/main">
            <a:pathLst>
              <a:path w="2686050" h="609600">
                <a:moveTo>
                  <a:pt x="2333625" y="152400"/>
                </a:moveTo>
                <a:lnTo>
                  <a:pt x="2333625" y="504825"/>
                </a:lnTo>
                <a:lnTo>
                  <a:pt x="2257425" y="504825"/>
                </a:lnTo>
                <a:lnTo>
                  <a:pt x="2257425" y="447675"/>
                </a:lnTo>
                <a:quadBezTo>
                  <a:pt x="2200275" y="514350"/>
                  <a:pt x="2095500" y="485775"/>
                </a:quadBezTo>
                <a:quadBezTo>
                  <a:pt x="1971675" y="457200"/>
                  <a:pt x="1971675" y="314325"/>
                </a:quadBezTo>
                <a:quadBezTo>
                  <a:pt x="1971675" y="152400"/>
                  <a:pt x="2095500" y="133350"/>
                </a:quadBezTo>
                <a:quadBezTo>
                  <a:pt x="2200275" y="104775"/>
                  <a:pt x="2257425" y="171450"/>
                </a:quadBezTo>
                <a:lnTo>
                  <a:pt x="2257425" y="152400"/>
                </a:lnTo>
                <a:close/>
                <a:moveTo>
                  <a:pt x="2257425" y="304800"/>
                </a:moveTo>
                <a:quadBezTo>
                  <a:pt x="2257425" y="209550"/>
                  <a:pt x="2152650" y="209550"/>
                </a:quadBezTo>
                <a:quadBezTo>
                  <a:pt x="2047875" y="209550"/>
                  <a:pt x="2047875" y="314325"/>
                </a:quadBezTo>
                <a:quadBezTo>
                  <a:pt x="2047875" y="419100"/>
                  <a:pt x="2152650" y="419100"/>
                </a:quadBezTo>
                <a:quadBezTo>
                  <a:pt x="2257425" y="419100"/>
                  <a:pt x="2257425" y="304800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6B748-567A-433B-AD7F-CA35AC5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09587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C / Custom fold lettering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7CD4C-686E-4201-8FDC-69F3B27A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0070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Angular w and k. Single-storey a. A lettering study that needs refinement at small sizes.</a:t>
            </a:r>
          </a:p>
        </p:txBody>
      </p:sp>
    </p:spTree>
    <p:extLst>
      <p:ext uri="{BB962C8B-B14F-4D97-AF65-F5344CB8AC3E}">
        <p14:creationId xmlns:p14="http://schemas.microsoft.com/office/powerpoint/2010/main" val="21358522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FE2A8D5-D48E-4B73-A6E8-A43DC995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Logo lockups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CF03C-6C3C-4B31-B114-62B6C507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Clear space H/4. Symbol-to-wordmark gap H/3. H is the visible symbol height.</a:t>
            </a:r>
          </a:p>
        </p:txBody>
      </p:sp>
      <p:sp>
        <p:nvSpPr>
          <p:cNvPr id="3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9EB2106F-C0D9-472E-B4DE-E1FAC930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05F596F5-FA58-4E7E-9DA1-EC25E6A1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CF32DCC5-DEED-48F0-9D64-F846DAA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4069FE94-B944-4767-9FAC-18E98FD0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72C2A0BF-65D6-4978-96C8-4281D323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07DB0C80-5B6E-4788-9F48-0D6B3A5B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6B070461-9F6B-43CD-B226-83A6595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30957D07-B95B-45D2-AEFF-0EA8FFE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foot">
            <a:extLst xmlns:a="http://schemas.openxmlformats.org/drawingml/2006/main">
              <a:ext uri="{FF2B5EF4-FFF2-40B4-BE49-F238E27FC236}">
                <a16:creationId xmlns:a16="http://schemas.microsoft.com/office/drawing/2014/main" id="{546D86BE-10B6-4155-A9F4-844CF7A4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762125" cy="12438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DFC6E12C-4897-4295-A0B6-CDCE7502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48865"/>
            <a:ext cx="1606894" cy="406971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3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CC9D6E06-12E0-4993-B484-89C84342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48865"/>
            <a:ext cx="1606894" cy="406971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4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9F80CC3F-630B-4350-A701-CF2DB26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48865"/>
            <a:ext cx="1606894" cy="406971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5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DEB44A9C-6F19-4E15-8ECE-59F20F83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48865"/>
            <a:ext cx="1606894" cy="406971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6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3757E2AC-0613-409C-AECB-E576C24B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48865"/>
            <a:ext cx="1606894" cy="406971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A4FEF-1E6D-4BC7-BFD9-52ABE2E7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Horizontal / 32 px minimum symbol height</a:t>
            </a:r>
          </a:p>
        </p:txBody>
      </p:sp>
      <p:sp>
        <p:nvSpPr>
          <p:cNvPr id="18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8DBB46F5-9D52-41FC-BAA1-820D106E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9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0919239E-C26F-4042-9EA0-40E2720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0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0C3DE146-6500-4CB6-A90B-EE081D9A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1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5782AB97-0F7F-47C8-9C88-6687BB98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2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9F61173D-F69B-4E24-8942-21F37E7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3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FC530E50-705E-43C5-8F3F-E9533685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4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15FA9DDE-BE3C-455D-897C-CBB1D569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5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B8466880-0BE5-4CD6-BE70-468A8BFB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6" name="Wukna foot">
            <a:extLst xmlns:a="http://schemas.openxmlformats.org/drawingml/2006/main">
              <a:ext uri="{FF2B5EF4-FFF2-40B4-BE49-F238E27FC236}">
                <a16:creationId xmlns:a16="http://schemas.microsoft.com/office/drawing/2014/main" id="{57EE5FAD-7DAC-4190-ABCF-B9E559C1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7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09B004EA-53EE-45E0-B2BD-C1E31DB2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7510"/>
            <a:ext cx="886562" cy="224536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8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AA52F93C-A5A0-40CA-8913-30F131E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7510"/>
            <a:ext cx="886562" cy="224536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29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0FB08C0C-2296-443D-AECC-1DB7ECE1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7510"/>
            <a:ext cx="886562" cy="224536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0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34FF31F3-55A2-44D3-87F2-587099E3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7510"/>
            <a:ext cx="886562" cy="224536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1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86C7A213-C5BD-43ED-B17B-878C0C3D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7510"/>
            <a:ext cx="886562" cy="224536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A135B2-6138-46C6-8E53-3C5B5A54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718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Stacked / 48 px minimum symbol height</a:t>
            </a:r>
          </a:p>
        </p:txBody>
      </p:sp>
      <p:sp>
        <p:nvSpPr>
          <p:cNvPr id="33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DBA4A283-48CC-48AC-A47D-04BC9707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4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98C88A78-D8FD-4531-AC8F-61DD5D19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5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EA4CBC38-9448-42C1-817C-7DEE37E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6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34922652-5984-4CF1-8F6E-9491D220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7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EA69CC73-CF1F-4CB9-A2FA-890770EB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8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54C5030E-51D8-4BBC-A853-649E3636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9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73060FFD-19A1-4C7B-8F67-CD0E5BC7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0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3FA81EB2-D1B8-4672-A3D7-4DA2F032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1" name="Wukna foot">
            <a:extLst xmlns:a="http://schemas.openxmlformats.org/drawingml/2006/main">
              <a:ext uri="{FF2B5EF4-FFF2-40B4-BE49-F238E27FC236}">
                <a16:creationId xmlns:a16="http://schemas.microsoft.com/office/drawing/2014/main" id="{3B6579A5-FA47-4E11-8B68-C04D6F34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143000" cy="806824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DF6B7B-CEB4-48E5-B815-5F2197D5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Standalone symbol / 16 px square slot</a:t>
            </a:r>
          </a:p>
        </p:txBody>
      </p:sp>
      <p:sp>
        <p:nvSpPr>
          <p:cNvPr id="43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76F9CB80-B03E-4D8A-B918-5CBAC58B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385253" cy="350837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4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0FB99029-A1AC-4DA4-8EBF-ACFCFFA1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385253" cy="350837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5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259F45AA-C6ED-460F-9C49-221B4223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385253" cy="350837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6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16439669-ACA7-4049-9219-8F32CFB0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385253" cy="350837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7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4995EF3A-5314-41E9-9AF6-B772CA87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1385253" cy="350837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1A627F-0A68-4622-88A2-E8ECC87C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657850"/>
            <a:ext cx="404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Wordmark only / 16 px visible glyph height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BFF0F0-C419-44A1-8238-5664C1D3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24375"/>
            <a:ext cx="276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50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0E4768E1-7666-481B-8038-F17998CC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1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19BF99AB-77BF-4E4F-A19E-686EE756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2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89E5FFA8-82FD-41E8-8DE6-90D522A7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3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ECC9A524-4C3A-4E0C-92F8-2027FBFC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4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3E0FAEBB-82B3-4FEB-B62D-D7ACDD1F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5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0102EE99-CD8D-4CAB-AE26-66BE108A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6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D05EBE1B-1246-486A-B165-498E5B15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7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971986BA-AC6E-4070-9098-BA37F051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8" name="Wukna foot">
            <a:extLst xmlns:a="http://schemas.openxmlformats.org/drawingml/2006/main">
              <a:ext uri="{FF2B5EF4-FFF2-40B4-BE49-F238E27FC236}">
                <a16:creationId xmlns:a16="http://schemas.microsoft.com/office/drawing/2014/main" id="{EB0667BC-CB5D-4C43-8E73-940E300E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52975"/>
            <a:ext cx="323850" cy="228600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9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1384C723-04E9-4014-939F-D93719A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0595"/>
            <a:ext cx="664922" cy="168402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0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F6F60504-14F1-4983-896D-C12FDCF8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0595"/>
            <a:ext cx="664922" cy="168402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1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C71A60F2-5017-48C4-9B37-EF202A6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0595"/>
            <a:ext cx="664922" cy="168402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2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81773C52-BC7F-49C8-A59E-8FF59B90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0595"/>
            <a:ext cx="664922" cy="168402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3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00EBFED3-6E51-4551-B95E-962D1FF6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760595"/>
            <a:ext cx="664922" cy="168402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D433D6-A927-422B-8B62-B314227F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514975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Compact header / 24 px symbol height</a:t>
            </a:r>
          </a:p>
        </p:txBody>
      </p:sp>
    </p:spTree>
    <p:extLst>
      <p:ext uri="{BB962C8B-B14F-4D97-AF65-F5344CB8AC3E}">
        <p14:creationId xmlns:p14="http://schemas.microsoft.com/office/powerpoint/2010/main" val="11822755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44A4EE-893C-4A60-AEF8-5E50FB7F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Icon sizes and optical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E19DB-8F9F-46C9-9B31-09947773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Square icon slots preserve the original aspect ratio. Use monochrome below 32 px.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AC592-133B-4DDF-9B36-394C6CBF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253C76C1-74A9-4097-94EC-D92BAF60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7921B4CE-7E3F-4935-937F-DB2F712F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44E66357-20D4-4CC9-A433-6586E30A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4429967B-4197-4F72-8483-E448025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F6EB597D-A9D4-44FB-A8C1-7783372B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E6A0D450-0AB9-4B61-BB07-6815EF45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5376036B-6D8E-4707-92CC-15DEAC73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3B3A2331-AC78-461E-9D03-B5D8FFD8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Wukna foot">
            <a:extLst xmlns:a="http://schemas.openxmlformats.org/drawingml/2006/main">
              <a:ext uri="{FF2B5EF4-FFF2-40B4-BE49-F238E27FC236}">
                <a16:creationId xmlns:a16="http://schemas.microsoft.com/office/drawing/2014/main" id="{A809813C-A86D-42DD-8FE8-6F760F84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1287"/>
            <a:ext cx="152400" cy="107576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E8EE7-4EF2-4AE8-BEDD-20A651FA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16 px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EF40A-79BB-4A06-B96D-9682B1B9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28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586AF027-2D19-4B06-8B6E-221E9C52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6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5EE85BDA-D38D-4202-B297-30F3C099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7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3234EA01-5DA3-45F5-A4A4-4DA83CB3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8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CA75DD94-20EF-44E4-A672-6FC9445E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9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6CD2E809-4E49-406D-A6B4-3C55917C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0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A1A507F3-5153-44D4-85FC-5978DCFB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1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2D592F98-90EC-4307-A354-6F049215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2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21FAA04B-56A8-4B68-B881-EE7BAAF5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3" name="Wukna foot">
            <a:extLst xmlns:a="http://schemas.openxmlformats.org/drawingml/2006/main">
              <a:ext uri="{FF2B5EF4-FFF2-40B4-BE49-F238E27FC236}">
                <a16:creationId xmlns:a16="http://schemas.microsoft.com/office/drawing/2014/main" id="{2DB38071-1A2E-493E-932F-8495DFB2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2493"/>
            <a:ext cx="228600" cy="161365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2500C-A685-4845-A74C-34399DBE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57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24 px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18B63C-71EC-40C5-BD9C-0D477CF7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288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787560A7-FC17-48CA-A836-D4971442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7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505E686F-CD62-4C6F-BA72-EECD2ABA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8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72F90A06-B49B-4FFB-88C5-5A6C36EE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9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94997E10-134D-49C2-AA62-52C74A57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0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36B878D4-BBAB-4641-9892-39FF8615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1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8F6745A9-FA68-4B9E-89FB-AE7E0E45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2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4CC3AC95-4CD6-421B-8F1E-F41A398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3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43FBC2F2-DCC9-47E0-8B1E-009594CE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4" name="Wukna foot">
            <a:extLst xmlns:a="http://schemas.openxmlformats.org/drawingml/2006/main">
              <a:ext uri="{FF2B5EF4-FFF2-40B4-BE49-F238E27FC236}">
                <a16:creationId xmlns:a16="http://schemas.microsoft.com/office/drawing/2014/main" id="{7BA9F6B5-A1B3-42E7-B191-B88E2782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3699"/>
            <a:ext cx="304800" cy="215153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AB5DE7-B2DA-47C5-9B8C-C503B466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32 px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1D49BE-39D0-4EE3-991E-8FE8EE3DD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28875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7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854CDE16-8EF4-44A3-95AF-1DA63E77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8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DAFF3D92-4EC4-42B7-A00D-A9A2452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9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1E4217EF-47B8-45C7-918E-A0975334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0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2D36FC49-854E-44E0-87C5-037A0FC0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1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A6A604B3-8472-4F4F-99EA-19F83F22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2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279E460F-5DAC-4F46-8477-CE77CB29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3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31F402DC-11C2-4099-A6F7-D104B8AF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4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887C1EFA-E8F0-41D2-847F-6302154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5" name="Wukna foot">
            <a:extLst xmlns:a="http://schemas.openxmlformats.org/drawingml/2006/main">
              <a:ext uri="{FF2B5EF4-FFF2-40B4-BE49-F238E27FC236}">
                <a16:creationId xmlns:a16="http://schemas.microsoft.com/office/drawing/2014/main" id="{42F5C94F-33AF-4FDE-A201-E0D359A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96110"/>
            <a:ext cx="457200" cy="322729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687BC9-1AFF-46A6-A4B0-CDA702B9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57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48 px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557582-44AC-43EB-BB30-BDE8DCE6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288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8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557A68A9-3DF7-47FD-A230-3D8EAD17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9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0285275D-E97B-4CC3-B1FE-F6C7192C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0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A16A30AB-2503-4F2B-8C1B-F3109AD5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1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7808D885-AC12-4A10-ADB0-C91129BD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2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8C41A497-EC84-4D22-B16F-55829BAE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3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B2D0B6CD-1A86-4973-B6F3-0CADE6C2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4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4B8A4444-6139-485C-A2F7-951178AE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5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616AABFE-56AE-4443-B6FE-E39B0BB7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6" name="Wukna foot">
            <a:extLst xmlns:a="http://schemas.openxmlformats.org/drawingml/2006/main">
              <a:ext uri="{FF2B5EF4-FFF2-40B4-BE49-F238E27FC236}">
                <a16:creationId xmlns:a16="http://schemas.microsoft.com/office/drawing/2014/main" id="{D6B50BB9-4044-4D32-A067-A27386AA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8522"/>
            <a:ext cx="609600" cy="430306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BD62415-7BAF-4063-ACDB-A267B216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64 px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B20611-AA81-4EC4-980E-F4C8BBE5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28875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D55186E1-1C21-4D33-A149-95FA93F7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0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08D63FC4-4BED-480C-887F-56C58864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1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5AD5D864-CFDB-442D-BC23-E39352A1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2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381A9CCA-884A-4217-B3B1-64917AA1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3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5A72EC67-4955-4C56-B791-F10964E7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4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588EADE1-A9E2-4A58-AE67-28506433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5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DA73D191-E23B-4FE7-A6B0-61BB3BA5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6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41C14C64-036D-437A-9CC0-841C28AF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7" name="Wukna foot">
            <a:extLst xmlns:a="http://schemas.openxmlformats.org/drawingml/2006/main">
              <a:ext uri="{FF2B5EF4-FFF2-40B4-BE49-F238E27FC236}">
                <a16:creationId xmlns:a16="http://schemas.microsoft.com/office/drawing/2014/main" id="{FBADD352-2673-4D30-BF04-0B6225FA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08169"/>
            <a:ext cx="1219200" cy="860612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25EEB1-27FE-45BF-89D2-18C44FE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57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128 px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54F749-12B8-42DA-9C8A-5A40ABE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Minimums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02ED86-E1F8-43F6-AE82-FF12627C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16 px standalone monochrome slot. 24 px compact header height. 32 px horizontal lockup height. 48 px tonal or stacked height.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E6B563-709D-4190-90D6-2B84A269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Shared fold center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21099A8-0782-40DA-ACCF-E915E88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911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Align the visible silhouette optically. Do not stretch it to fill the square.</a:t>
            </a:r>
          </a:p>
        </p:txBody>
      </p:sp>
    </p:spTree>
    <p:extLst>
      <p:ext uri="{BB962C8B-B14F-4D97-AF65-F5344CB8AC3E}">
        <p14:creationId xmlns:p14="http://schemas.microsoft.com/office/powerpoint/2010/main" val="21223538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14AAC8-4131-4565-9609-CDE954B1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Application studies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9F759-DF0A-4FA3-B995-EA6C955A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Verified theme surfaces. Navigation order follows Wukna’s standing product rule.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BDF1F-F276-4ED0-A076-6C92EDC8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2578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3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B34AD-77C5-45C7-A870-864F763E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571625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2B44C3B7-0E6B-4387-9CDC-2F4858B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EA28BC6A-06D7-4BF0-B9D8-15B0D101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2EBA60C3-4E84-47FB-BF77-D962664A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7658CD05-30AD-4933-91FC-A093D954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ACA49D9F-8077-440B-9440-36BB5EDB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F33D6F16-CE9E-4366-B013-AA58352E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25CEAD67-C5FC-40A6-A206-2888A698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B2F78AF2-496A-416B-9D9C-04308302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3" name="Wukna foot">
            <a:extLst xmlns:a="http://schemas.openxmlformats.org/drawingml/2006/main">
              <a:ext uri="{FF2B5EF4-FFF2-40B4-BE49-F238E27FC236}">
                <a16:creationId xmlns:a16="http://schemas.microsoft.com/office/drawing/2014/main" id="{CABF330E-91F6-4743-8421-488E9010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4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6832755B-E4F6-4E54-A7D5-340252EC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5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E15756DB-F8B3-4727-8E62-9A10E4B9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6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5F43FBDF-CC19-4CA9-B1F1-EA866C9B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7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45110668-E84A-422A-807C-FF1FA16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8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2B1CE987-DFF1-460E-878F-92B8E6D9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8EAD1-D4DF-4403-A777-021968F4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Home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719FB-44D2-485A-A64F-DD0F4D3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EF276-29BE-4E90-B9F1-28351C96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03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Boards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CC2864-9AF3-4238-B1C7-7A6FC0BF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8C2C0-DA5E-41C2-B9D7-C538E212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Week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AE954-E444-45D8-B112-B167BBBA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Calendar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19F5F-1087-4E93-9E88-C4E5A879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Quick tasks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C21A01-919A-4DF3-8534-D449046A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Templates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D8F80E-037E-4593-A415-49901E08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577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Notifications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6CA8C-8603-4097-B7D9-DCBFAF2B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Storage / 1 GB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9BDC81-2F61-42D3-B018-B2E4AB9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Your workspace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BD8C90-502A-4967-A01C-169A9410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717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Boards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D74839-3CDE-422B-8B37-7005C431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 place to gather what matters.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49CADD-1979-4185-A3C6-3747C59D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76675"/>
            <a:ext cx="3162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FD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4C67C3-A0FC-42FB-A29D-CAD63D6E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386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Ideas for a new season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5851CF-CB8F-40A4-9305-F93A196C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672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Notes, tasks, and a little room to think.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010337-DFE8-45AF-9E6A-8893F9AB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52578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18"/>
          </a:solidFill>
          <a:ln xmlns:a="http://schemas.openxmlformats.org/drawingml/2006/main" w="9525">
            <a:solidFill>
              <a:srgbClr val="3E4B4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212770-BB73-45B1-9A88-0EC65BB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1571625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0"/>
          </a:solidFill>
          <a:ln xmlns:a="http://schemas.openxmlformats.org/drawingml/2006/main" w="0">
            <a:noFill/>
          </a:ln>
        </p:spPr>
      </p:sp>
      <p:sp>
        <p:nvSpPr>
          <p:cNvPr id="37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2D07270F-6538-403A-8F01-50A26EA2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38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2A5C77BD-D1EF-4E44-8792-B2F4D72E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39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AE990036-0FD1-45C5-91C5-D12FE9EE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0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8B706291-8030-4B4E-8CCC-ACF2F7FC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1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D781CBAE-B492-4AD8-A6E0-1DE51AF2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2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726C0663-EAFA-4C75-80BD-DEFB9F3D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3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DA412084-1310-40F9-82A0-3418D22B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4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ACB2DFA7-8ECE-496B-B10B-D8CBABD3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5" name="Wukna foot">
            <a:extLst xmlns:a="http://schemas.openxmlformats.org/drawingml/2006/main">
              <a:ext uri="{FF2B5EF4-FFF2-40B4-BE49-F238E27FC236}">
                <a16:creationId xmlns:a16="http://schemas.microsoft.com/office/drawing/2014/main" id="{54AE52D1-DB46-425A-87D6-0987CDC0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381000" cy="268941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A5C0AA"/>
          </a:solidFill>
          <a:ln xmlns:a="http://schemas.openxmlformats.org/drawingml/2006/main" w="0">
            <a:noFill/>
          </a:ln>
        </p:spPr>
      </p:sp>
      <p:sp>
        <p:nvSpPr>
          <p:cNvPr id="46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76E24D6F-93EA-4DC6-86F8-7B846DD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47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38CA9084-5462-4792-BCE4-09CBEEBC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48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00017AA3-7EA7-468C-9517-E3A2C09D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49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4EB46585-8131-4176-96CF-E08DFB1F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50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F354D454-842F-4EF2-84B1-007CDFB8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91690"/>
            <a:ext cx="637217" cy="161385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F5F6F2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D4DBC6-ECEF-4A28-94AC-7E2080DE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241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Home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33103B-6D04-4FBB-A107-8C5BF07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81325"/>
            <a:ext cx="1381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739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37EA01-DF2A-4D3C-ABCE-222F821D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03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Boards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4FC5F8-7945-4AC4-B863-BC32FC42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Library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48ABF9-ED1D-405B-888C-FD92C0B1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528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Week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AE518BC-A888-428C-BB0F-64CE1FA0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Calendar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C31A48-D260-497D-AB9C-9CAC6D1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052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Quick tasks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84496F-DAA7-4CD5-B319-F7AE756D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815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Templates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690E61-D5B2-41AD-9E5D-4A7AF814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5772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Notifications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38A4FA-F2D4-466E-B463-207FD26E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05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B2BBB1"/>
                </a:solidFill>
                <a:latin typeface="Inter"/>
                <a:ea typeface="Inter"/>
                <a:cs typeface="Inter"/>
              </a:rPr>
              <a:t>Storage / 1 GB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35F8AA-2C32-48DC-A9DF-6FA933AC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2BBB1"/>
                </a:solidFill>
                <a:latin typeface="Inter"/>
                <a:ea typeface="Inter"/>
                <a:cs typeface="Inter"/>
              </a:rPr>
              <a:t>Your workspace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71E90C2-71B6-4747-B9ED-9C95012F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5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255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Boards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AA1042-160A-4940-BD42-E5A00CCB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35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B2BBB1"/>
                </a:solidFill>
                <a:latin typeface="Inter"/>
                <a:ea typeface="Inter"/>
                <a:cs typeface="Inter"/>
              </a:rPr>
              <a:t>A place to gather what matters.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C1F79C-DD5C-4821-B6D0-4090F7DB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3162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620"/>
          </a:solidFill>
          <a:ln xmlns:a="http://schemas.openxmlformats.org/drawingml/2006/main" w="9525">
            <a:solidFill>
              <a:srgbClr val="3E4B40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4EE5F5-E33C-4834-BC28-5D9DFDE7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90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5F6F2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F5F6F2"/>
                </a:solidFill>
                <a:latin typeface="Inter"/>
                <a:ea typeface="Inter"/>
                <a:cs typeface="Inter"/>
              </a:rPr>
              <a:t>Ideas for a new season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A849F5-9774-4F26-B868-5AA0AA85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67225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0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2BBB1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B2BBB1"/>
                </a:solidFill>
                <a:latin typeface="Inter"/>
                <a:ea typeface="Inter"/>
                <a:cs typeface="Inter"/>
              </a:rPr>
              <a:t>Notes, tasks, and a little room to think.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A9C7EC2-EE3B-47E5-B4D0-839A2FA8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42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Library follows Boards. Notifications stays last. Storage appears directly below as a separate workspace utility.</a:t>
            </a:r>
          </a:p>
        </p:txBody>
      </p:sp>
    </p:spTree>
    <p:extLst>
      <p:ext uri="{BB962C8B-B14F-4D97-AF65-F5344CB8AC3E}">
        <p14:creationId xmlns:p14="http://schemas.microsoft.com/office/powerpoint/2010/main" val="2137242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C334CA-05F7-47BF-839C-DB443C0E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Application launch storyboard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87B3C-2B08-4CB2-B58F-CF2D56D8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1,600 ms signature. App readiness never waits for the animation.</a:t>
            </a:r>
          </a:p>
        </p:txBody>
      </p:sp>
      <p:sp>
        <p:nvSpPr>
          <p:cNvPr id="3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C675BD73-EF50-45E6-883D-F469C6F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8D3F76D9-366E-4244-B037-B8833BA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AF0FB973-8DB9-4CD9-8BAD-572FA9CD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CAA0B3AD-4333-4A68-929A-41CC63DC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FDCA881B-74F0-4A03-87C6-AB9FC95A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7BC217A2-6722-4522-B8F7-8CA93FB5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E52D2934-305C-42B6-8E32-94FD65E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foot">
            <a:extLst xmlns:a="http://schemas.openxmlformats.org/drawingml/2006/main">
              <a:ext uri="{FF2B5EF4-FFF2-40B4-BE49-F238E27FC236}">
                <a16:creationId xmlns:a16="http://schemas.microsoft.com/office/drawing/2014/main" id="{C7D9268C-70A3-466F-8FB9-7663981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97926-D9D4-43C3-86B4-AAE23096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0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0B477-F4DB-498E-97DF-49C138D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Separate panels</a:t>
            </a:r>
          </a:p>
        </p:txBody>
      </p:sp>
      <p:sp>
        <p:nvSpPr>
          <p:cNvPr id="13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2347902C-56B6-4881-B38D-610A27DA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479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4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C1D3DE6D-2558-488D-BEF4-3DE4B234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479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5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02593BDC-A698-47AC-961E-29037143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479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6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777B8F9E-42F8-42F6-A1FD-5EE64EF2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479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7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C582BAFA-B8E4-4EA9-838D-D317FA45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479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8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13603DAE-5673-4BC9-8786-0EFE0997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479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9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5DF52941-37BD-4F6F-94B2-24B6913E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479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0" name="Wukna foot">
            <a:extLst xmlns:a="http://schemas.openxmlformats.org/drawingml/2006/main">
              <a:ext uri="{FF2B5EF4-FFF2-40B4-BE49-F238E27FC236}">
                <a16:creationId xmlns:a16="http://schemas.microsoft.com/office/drawing/2014/main" id="{3B9F4BE7-2B16-453B-823F-D1883D40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9BEC0-9BEE-4DD7-8FBF-5823B894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429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280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BBFCF7-0E2E-42BB-ADF2-B32C273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9244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Panels align</a:t>
            </a:r>
          </a:p>
        </p:txBody>
      </p:sp>
      <p:sp>
        <p:nvSpPr>
          <p:cNvPr id="23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FE4E7C72-0B1D-4660-976A-946778CB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4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3294D72B-921A-4602-9B23-1385E563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5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D0DE8356-FCFF-4C02-8F6D-B0DC5408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6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CF34BC64-687A-4AA9-8401-369DD043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7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CBDE4FF5-ABC6-4CA5-8B68-C4DD51D6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8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6BDB8555-28DF-4EB3-AEB3-5696DC37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9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6267B4FD-A6F4-408F-90CE-1028F924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0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C19FF829-80A7-4E02-8A3B-55EF6517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1" name="Wukna foot">
            <a:extLst xmlns:a="http://schemas.openxmlformats.org/drawingml/2006/main">
              <a:ext uri="{FF2B5EF4-FFF2-40B4-BE49-F238E27FC236}">
                <a16:creationId xmlns:a16="http://schemas.microsoft.com/office/drawing/2014/main" id="{81698948-9B33-4A27-BFFB-C62B9AB1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238CE0-68B5-4E9A-BD2A-5D0934A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29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1,000 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B10B0-F517-4E46-ADB9-D448CF8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244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W settles</a:t>
            </a:r>
          </a:p>
        </p:txBody>
      </p:sp>
      <p:sp>
        <p:nvSpPr>
          <p:cNvPr id="34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A0B7EFC8-4281-4E5F-B4DD-94C9765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5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9759181F-0854-4880-9DD7-78002FC3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6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B1572E62-7B6E-4EB3-8AAF-110C6176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7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73F14B26-6379-4143-A06B-1432CF45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8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A5ACB3B0-6996-416E-BB92-A45E0B78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9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FB18F8C1-884E-41C7-B1D0-1A6AA824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0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7015A2C0-FD05-42A9-BA93-C7640D64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1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29EE0494-5119-4796-A800-3247BF6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2" name="Wukna foot">
            <a:extLst xmlns:a="http://schemas.openxmlformats.org/drawingml/2006/main">
              <a:ext uri="{FF2B5EF4-FFF2-40B4-BE49-F238E27FC236}">
                <a16:creationId xmlns:a16="http://schemas.microsoft.com/office/drawing/2014/main" id="{8F0040BA-6F7D-4FBA-AC07-0B870A12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3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5E658930-CE04-4D65-91ED-D7596A1D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4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F4BDA923-BA62-438B-93F4-AD9E796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5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022D3343-1C78-4230-9494-F4439626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6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38076A69-69B8-4C4A-B083-D15AA52C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7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D77EE595-C35D-47B7-83D6-E1C4980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5F9E35-8B5B-49FE-B729-2A243EA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29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1,400 ms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8DE559-76B5-4383-937D-8E898BF6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244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Wordmark reveal</a:t>
            </a:r>
          </a:p>
        </p:txBody>
      </p:sp>
      <p:sp>
        <p:nvSpPr>
          <p:cNvPr id="50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154C0E0A-14B8-4A14-833C-2FC7248F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1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854F81CE-055A-4E04-95B2-A12EB4B5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2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F6DD713D-50AD-4574-B610-ADC0A487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3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515593E5-9B8D-4B2F-85BB-7FAA0C9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4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00AB5F5B-C5C0-4E62-B7CF-3FB0BF7E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5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DE87F6C8-4B28-48BF-958B-2F413563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6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077FE7E6-FE0A-4A32-B4F0-ACC246B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7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CF7F9787-D09F-4703-BB1F-A4B16536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8" name="Wukna foot">
            <a:extLst xmlns:a="http://schemas.openxmlformats.org/drawingml/2006/main">
              <a:ext uri="{FF2B5EF4-FFF2-40B4-BE49-F238E27FC236}">
                <a16:creationId xmlns:a16="http://schemas.microsoft.com/office/drawing/2014/main" id="{6DFF63D4-F418-432F-BC3C-E490DDA8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209800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9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EF47D942-C85E-4850-9DA0-C80C0499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0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4D024007-9F67-4D68-9562-B136D81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1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9B492206-26F8-4BD6-89E4-FF760180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2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5AA4CFAB-E722-483E-9C69-E9F74AAC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3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9C9E7D14-20EB-4375-9A59-3207EDAC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579495"/>
            <a:ext cx="803447" cy="203486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4BFBCC-0ADE-41D9-B680-8EF5973D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429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9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1,600 ms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E2A096F-316A-4670-819F-1BF556D7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924425"/>
            <a:ext cx="204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Complete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253D090-4462-4CB6-97D9-502DB76D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Panels assemble over 720 ms with 140 ms offsets. Wordmark reveals at 1,000 ms over 400 ms. Ease: cubic-bezier(.2,.7,.2,1).</a:t>
            </a:r>
          </a:p>
        </p:txBody>
      </p:sp>
    </p:spTree>
    <p:extLst>
      <p:ext uri="{BB962C8B-B14F-4D97-AF65-F5344CB8AC3E}">
        <p14:creationId xmlns:p14="http://schemas.microsoft.com/office/powerpoint/2010/main" val="1014573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8B5C5A-84F2-418B-9C2A-C33AE416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Loading, welcome, and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98FE2-0B04-4B43-9748-3B1FBCD6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Calm transitions stop when the relevant state finishes. Reduced motion always shows the final static state.</a:t>
            </a:r>
          </a:p>
        </p:txBody>
      </p:sp>
      <p:sp>
        <p:nvSpPr>
          <p:cNvPr id="3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5FD4BCDE-D6B8-44A2-AFD7-0AFF4ECA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BE75DC88-AA61-4EC8-995F-F2FBFBDD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159E5678-700C-4335-99D5-381B31F9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6502440D-9034-4889-BC38-71E12385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0B43FEEC-4E49-4214-A5B0-2ED09A4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8B2AD8C5-C70A-4330-87CE-3F11E4ED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AD428F06-A6EB-4CCF-90B8-E69992C5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5D0D40AC-8647-4693-8089-C968769E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foot">
            <a:extLst xmlns:a="http://schemas.openxmlformats.org/drawingml/2006/main">
              <a:ext uri="{FF2B5EF4-FFF2-40B4-BE49-F238E27FC236}">
                <a16:creationId xmlns:a16="http://schemas.microsoft.com/office/drawing/2014/main" id="{DBFAEC2A-382E-4D14-8BFA-DC141050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115E3-B200-47B2-8715-CBD8022C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Loading / 1,200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6ADCC-2DDD-4790-8C36-702DEDC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Sequential panel emphasis. Keep opacity between .6 and 1. Stop on readiness. Retain a stable status label.</a:t>
            </a:r>
          </a:p>
        </p:txBody>
      </p:sp>
      <p:sp>
        <p:nvSpPr>
          <p:cNvPr id="14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7C9B5DB4-B866-4279-880D-74B19E4A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5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6D15EEF2-44F7-41E0-9343-D2149BE5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6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7C2ABC97-0E1E-4AD5-88EF-F64328D1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7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EB6C52FE-F4FF-4B2C-8FBD-1FEF9126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8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DCE07B9D-977D-40D8-A0EF-E26C87E6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9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A7BF3B67-CF82-4E58-B09C-F5A10FCA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0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9611F530-FE7C-4816-B676-67616BC4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1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5609E273-EE56-467A-A70E-DAA8FBD0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2" name="Wukna foot">
            <a:extLst xmlns:a="http://schemas.openxmlformats.org/drawingml/2006/main">
              <a:ext uri="{FF2B5EF4-FFF2-40B4-BE49-F238E27FC236}">
                <a16:creationId xmlns:a16="http://schemas.microsoft.com/office/drawing/2014/main" id="{5A8C0CCC-8D3B-4728-AB84-346415A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8DC1AF-D584-4948-819F-C2F233FB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Welcome / 640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5456A9-4AD6-42B1-9BD9-1918BE49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9577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Reveal once for login, Google OAuth, registration, or session restoration. Never gate authentication or routing.</a:t>
            </a:r>
          </a:p>
        </p:txBody>
      </p:sp>
      <p:sp>
        <p:nvSpPr>
          <p:cNvPr id="25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51CF463D-A81F-48C2-ADCE-07868A04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6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B0C3B795-E7DD-4726-95B0-35429562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7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33BB1585-6C77-490B-92AE-5F6E7CFE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8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D74CBD79-643C-4406-A7E5-1AE2B05A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9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25425ACD-5419-475A-978A-BFD55185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0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DEFA43F1-F029-4D9C-9F96-AAE8BE4B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1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2582A85C-2209-43DD-810A-3704D03C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2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0A9A5489-7AF1-4EC8-868F-D141B352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3" name="Wukna foot">
            <a:extLst xmlns:a="http://schemas.openxmlformats.org/drawingml/2006/main">
              <a:ext uri="{FF2B5EF4-FFF2-40B4-BE49-F238E27FC236}">
                <a16:creationId xmlns:a16="http://schemas.microsoft.com/office/drawing/2014/main" id="{B0BA9CE7-F72C-495C-BBA2-B4467B7D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1666875" cy="1176618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50F459-70C9-467A-ADBB-05636A2C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Onboarding / 1,200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DE7267-6925-4035-9CEB-7E3D9C1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9577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Assemble once when adding the first workspace item. Keep empty states still until the user acts.</a:t>
            </a:r>
          </a:p>
        </p:txBody>
      </p:sp>
    </p:spTree>
    <p:extLst>
      <p:ext uri="{BB962C8B-B14F-4D97-AF65-F5344CB8AC3E}">
        <p14:creationId xmlns:p14="http://schemas.microsoft.com/office/powerpoint/2010/main" val="20481406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3834EB-B983-48A0-8181-73E0892F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Workspace transitions and feedback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976BD-C9FE-4282-B5DE-83D4487D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The fold metaphor belongs to the action. Routine navigation keeps the logo still.</a:t>
            </a:r>
          </a:p>
        </p:txBody>
      </p:sp>
      <p:sp>
        <p:nvSpPr>
          <p:cNvPr id="3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FB257F0A-F407-453F-8DD3-B9C6A6E3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3DBDA637-D2BE-4461-AB12-5C823F9A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922156B0-C143-479E-8CCF-E6B3312B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B60B9D44-D538-49FF-BB28-A6ABD4CE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11C33EB0-D0A0-430D-BBF9-E5C82E5C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B98ECEA6-B2C6-4802-B665-2383D8F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FC154DF5-934C-4FB5-A381-65D1B00E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94FCEB2E-21D9-41CE-946B-D48BE453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foot">
            <a:extLst xmlns:a="http://schemas.openxmlformats.org/drawingml/2006/main">
              <a:ext uri="{FF2B5EF4-FFF2-40B4-BE49-F238E27FC236}">
                <a16:creationId xmlns:a16="http://schemas.microsoft.com/office/drawing/2014/main" id="{D4808264-EEE3-42BC-88FF-1C7991CA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" cy="705971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D1C3C196-B5AF-48AD-9D0F-64ECC4E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5020"/>
            <a:ext cx="941972" cy="238569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3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2B67A69F-1D84-4F79-8868-3F61452A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5020"/>
            <a:ext cx="941972" cy="238569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4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AAC7766A-763C-4B0B-AE37-08440591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5020"/>
            <a:ext cx="941972" cy="238569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5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156EE700-3845-43BD-AAEF-AA566CB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5020"/>
            <a:ext cx="941972" cy="238569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6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4DBFD7FF-D502-40BF-A491-D9EB7B78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65020"/>
            <a:ext cx="941972" cy="238569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8575E-0147-45D3-9AA0-7D2BD1AC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E21E7-9912-4964-84FB-B44301E9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52800"/>
            <a:ext cx="304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CC312-D03A-4A89-9FED-A5156F91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528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8B9BB9-A453-48A2-8ADC-48573583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Navigation / 180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D3A0E-CD14-44C9-BB63-A865A460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95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Opening boards, major sections, Library, Journal, and returning Home use one small content reveal. No full-logo replay.</a:t>
            </a:r>
          </a:p>
        </p:txBody>
      </p:sp>
      <p:sp>
        <p:nvSpPr>
          <p:cNvPr id="22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5AC81569-9EDA-4F11-A5F5-DC149FE3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3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11E84A8B-E0B4-4B45-9A07-0EB88937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4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DF19A49D-E96E-4FED-B159-309F69FC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5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E95D99F8-705E-4EAB-BD72-528E1952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6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53C8258F-1F67-4BE1-9A2B-3CEA423B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7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1C693A46-88D5-478F-9B24-742644AA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8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4B820245-458B-4120-A519-55A18891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29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E92440AC-A895-480E-8F23-67B09DE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0" name="Wukna foot">
            <a:extLst xmlns:a="http://schemas.openxmlformats.org/drawingml/2006/main">
              <a:ext uri="{FF2B5EF4-FFF2-40B4-BE49-F238E27FC236}">
                <a16:creationId xmlns:a16="http://schemas.microsoft.com/office/drawing/2014/main" id="{8A161277-360E-41A1-8CD0-0B52A675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52650"/>
            <a:ext cx="1428750" cy="1008529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0B25D-7C93-45F6-AA82-BCB7632F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861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Saved to your workspace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5E91DB-3C4B-4420-8A98-A3E1F2D5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958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Success / 450 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B8BFD-2E15-4366-93F4-C10F55DE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3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 3 px lower-fold settle beside a clear label. Apply to save, board creation, organization, task completion, invitations, and sharing.</a:t>
            </a:r>
          </a:p>
        </p:txBody>
      </p:sp>
    </p:spTree>
    <p:extLst>
      <p:ext uri="{BB962C8B-B14F-4D97-AF65-F5344CB8AC3E}">
        <p14:creationId xmlns:p14="http://schemas.microsoft.com/office/powerpoint/2010/main" val="5025568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88743-CF18-4800-A82B-2A1C3064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Usage guidelines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DD3C0-F6C4-4217-B05E-3B05A19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Keep the silhouette stable and the experience ready.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FF90B-91C0-460F-B209-16A5CF34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9CEA95-9EF4-489A-A809-9F024DFB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000625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Original aspect ratio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Clear space around the mark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One-color icons below 32 px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 static reduced-motion alternative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 persistent accessible loading label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Transform and opacity for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4DC18-CE96-44B9-B064-656DE948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66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4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Avoid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A72F2-B43C-42CC-88E8-1BE2CD92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5000625" cy="2943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Stretched or clipped geometry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Decorative outlines and shadows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Pale moss on a light surface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Repeated launch motion on routes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Minimum loading or auth delays</a:t>
            </a:r>
          </a:p>
          <a:p xmlns:a="http://schemas.openxmlformats.org/drawingml/2006/main">
            <a:pPr>
              <a:defRPr sz="1875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Brand animation for every 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18504-83D1-492C-802D-A89C02D7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Production candidates: native SVG and React + CSS or Web Animations API. Canva storyboards are design evidence. GIF and MP4 are preview formats.</a:t>
            </a:r>
          </a:p>
        </p:txBody>
      </p:sp>
    </p:spTree>
    <p:extLst>
      <p:ext uri="{BB962C8B-B14F-4D97-AF65-F5344CB8AC3E}">
        <p14:creationId xmlns:p14="http://schemas.microsoft.com/office/powerpoint/2010/main" val="1899436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7A916-2E74-44F9-9566-0B93DE68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315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Review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9A38C-3DDA-4DF6-8C95-C0A241A9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Approve geometry first, then choose color, lettering, and motion.</a:t>
            </a:r>
          </a:p>
        </p:txBody>
      </p:sp>
      <p:sp>
        <p:nvSpPr>
          <p:cNvPr id="3" name="Canonical W silhouette">
            <a:extLst xmlns:a="http://schemas.openxmlformats.org/drawingml/2006/main">
              <a:ext uri="{FF2B5EF4-FFF2-40B4-BE49-F238E27FC236}">
                <a16:creationId xmlns:a16="http://schemas.microsoft.com/office/drawing/2014/main" id="{73ADEC94-52DA-4C97-BDF8-00D36721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2000250" y="923925"/>
                </a:lnTo>
                <a:lnTo>
                  <a:pt x="2447925" y="1514475"/>
                </a:lnTo>
                <a:lnTo>
                  <a:pt x="2990850" y="514350"/>
                </a:ln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295525" y="2781300"/>
                </a:lnTo>
                <a:lnTo>
                  <a:pt x="2000250" y="2295525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4" name="Wukna left-front">
            <a:extLst xmlns:a="http://schemas.openxmlformats.org/drawingml/2006/main">
              <a:ext uri="{FF2B5EF4-FFF2-40B4-BE49-F238E27FC236}">
                <a16:creationId xmlns:a16="http://schemas.microsoft.com/office/drawing/2014/main" id="{96269BEA-7214-49FE-ABF8-8C819A2F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123825" y="85725"/>
                </a:moveTo>
                <a:lnTo>
                  <a:pt x="1028700" y="514350"/>
                </a:lnTo>
                <a:lnTo>
                  <a:pt x="1571625" y="1504950"/>
                </a:lnTo>
                <a:lnTo>
                  <a:pt x="895350" y="2781300"/>
                </a:lnTo>
                <a:lnTo>
                  <a:pt x="47625" y="171450"/>
                </a:lnTo>
                <a:quadBezTo>
                  <a:pt x="9525" y="47625"/>
                  <a:pt x="123825" y="85725"/>
                </a:quadBez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5" name="Wukna left-return">
            <a:extLst xmlns:a="http://schemas.openxmlformats.org/drawingml/2006/main">
              <a:ext uri="{FF2B5EF4-FFF2-40B4-BE49-F238E27FC236}">
                <a16:creationId xmlns:a16="http://schemas.microsoft.com/office/drawing/2014/main" id="{5451988F-77F5-4710-9219-5E3ACAE8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895350" y="2781300"/>
                </a:moveTo>
                <a:lnTo>
                  <a:pt x="1571625" y="150495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6" name="Wukna left-inner">
            <a:extLst xmlns:a="http://schemas.openxmlformats.org/drawingml/2006/main">
              <a:ext uri="{FF2B5EF4-FFF2-40B4-BE49-F238E27FC236}">
                <a16:creationId xmlns:a16="http://schemas.microsoft.com/office/drawing/2014/main" id="{1B9D027D-8609-41DD-838E-9BD3CF3E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1571625" y="1504950"/>
                </a:moveTo>
                <a:lnTo>
                  <a:pt x="2000250" y="92392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7" name="Wukna right-inner">
            <a:extLst xmlns:a="http://schemas.openxmlformats.org/drawingml/2006/main">
              <a:ext uri="{FF2B5EF4-FFF2-40B4-BE49-F238E27FC236}">
                <a16:creationId xmlns:a16="http://schemas.microsoft.com/office/drawing/2014/main" id="{912F51E7-B7E9-4427-A114-82A455B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2000250" y="923925"/>
                </a:moveTo>
                <a:lnTo>
                  <a:pt x="2447925" y="1514475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8" name="Wukna right-fold">
            <a:extLst xmlns:a="http://schemas.openxmlformats.org/drawingml/2006/main">
              <a:ext uri="{FF2B5EF4-FFF2-40B4-BE49-F238E27FC236}">
                <a16:creationId xmlns:a16="http://schemas.microsoft.com/office/drawing/2014/main" id="{00215D54-4955-4FFF-A087-182EED3B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2447925" y="1514475"/>
                </a:moveTo>
                <a:lnTo>
                  <a:pt x="2990850" y="514350"/>
                </a:lnTo>
                <a:lnTo>
                  <a:pt x="2971800" y="1905000"/>
                </a:lnTo>
                <a:lnTo>
                  <a:pt x="2000250" y="2295525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9" name="Wukna right-front">
            <a:extLst xmlns:a="http://schemas.openxmlformats.org/drawingml/2006/main">
              <a:ext uri="{FF2B5EF4-FFF2-40B4-BE49-F238E27FC236}">
                <a16:creationId xmlns:a16="http://schemas.microsoft.com/office/drawing/2014/main" id="{E2D5A7A4-44F6-4E59-A496-B4F7EA3F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2990850" y="514350"/>
                </a:moveTo>
                <a:lnTo>
                  <a:pt x="3857625" y="85725"/>
                </a:lnTo>
                <a:quadBezTo>
                  <a:pt x="4000500" y="38100"/>
                  <a:pt x="3952875" y="190500"/>
                </a:quadBezTo>
                <a:lnTo>
                  <a:pt x="3095625" y="2781300"/>
                </a:lnTo>
                <a:lnTo>
                  <a:pt x="2971800" y="19050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0" name="Wukna right-return">
            <a:extLst xmlns:a="http://schemas.openxmlformats.org/drawingml/2006/main">
              <a:ext uri="{FF2B5EF4-FFF2-40B4-BE49-F238E27FC236}">
                <a16:creationId xmlns:a16="http://schemas.microsoft.com/office/drawing/2014/main" id="{5AEC0B43-CDC1-4E7E-87E6-45040B89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2971800" y="1905000"/>
                </a:lnTo>
                <a:lnTo>
                  <a:pt x="30956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1" name="Wukna foot">
            <a:extLst xmlns:a="http://schemas.openxmlformats.org/drawingml/2006/main">
              <a:ext uri="{FF2B5EF4-FFF2-40B4-BE49-F238E27FC236}">
                <a16:creationId xmlns:a16="http://schemas.microsoft.com/office/drawing/2014/main" id="{54EF6D8B-BFBC-41BC-8703-D1225A42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52750" cy="2084294"/>
          </a:xfrm>
          <a:custGeom xmlns:a="http://schemas.openxmlformats.org/drawingml/2006/main">
            <a:pathLst>
              <a:path w="4048125" h="2857500">
                <a:moveTo>
                  <a:pt x="2000250" y="2295525"/>
                </a:moveTo>
                <a:lnTo>
                  <a:pt x="3095625" y="2781300"/>
                </a:lnTo>
                <a:lnTo>
                  <a:pt x="2295525" y="2781300"/>
                </a:lnTo>
                <a:close/>
              </a:path>
            </a:pathLst>
          </a:custGeom>
          <a:solidFill xmlns:a="http://schemas.openxmlformats.org/drawingml/2006/main">
            <a:srgbClr val="486653"/>
          </a:solidFill>
          <a:ln xmlns:a="http://schemas.openxmlformats.org/drawingml/2006/main" w="0">
            <a:noFill/>
          </a:ln>
        </p:spPr>
      </p:sp>
      <p:sp>
        <p:nvSpPr>
          <p:cNvPr id="12" name="wukna wordmark glyph 1">
            <a:extLst xmlns:a="http://schemas.openxmlformats.org/drawingml/2006/main">
              <a:ext uri="{FF2B5EF4-FFF2-40B4-BE49-F238E27FC236}">
                <a16:creationId xmlns:a16="http://schemas.microsoft.com/office/drawing/2014/main" id="{0A9A8CE6-A881-4A92-8DB6-F5281932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6505"/>
            <a:ext cx="2382636" cy="603440"/>
          </a:xfrm>
          <a:custGeom xmlns:a="http://schemas.openxmlformats.org/drawingml/2006/main">
            <a:pathLst>
              <a:path w="27705065" h="7016746">
                <a:moveTo>
                  <a:pt x="1485900" y="6921496"/>
                </a:moveTo>
                <a:lnTo>
                  <a:pt x="0" y="2063746"/>
                </a:lnTo>
                <a:lnTo>
                  <a:pt x="1260490" y="2063746"/>
                </a:lnTo>
                <a:lnTo>
                  <a:pt x="2136782" y="5711805"/>
                </a:lnTo>
                <a:lnTo>
                  <a:pt x="2047885" y="5711805"/>
                </a:lnTo>
                <a:lnTo>
                  <a:pt x="3127376" y="2063746"/>
                </a:lnTo>
                <a:lnTo>
                  <a:pt x="4222766" y="2063746"/>
                </a:lnTo>
                <a:lnTo>
                  <a:pt x="5311782" y="5711805"/>
                </a:lnTo>
                <a:lnTo>
                  <a:pt x="5222885" y="5711805"/>
                </a:lnTo>
                <a:lnTo>
                  <a:pt x="6089652" y="2063746"/>
                </a:lnTo>
                <a:lnTo>
                  <a:pt x="7312041" y="2063746"/>
                </a:lnTo>
                <a:lnTo>
                  <a:pt x="5826141" y="6921496"/>
                </a:lnTo>
                <a:lnTo>
                  <a:pt x="4705351" y="6921496"/>
                </a:lnTo>
                <a:lnTo>
                  <a:pt x="3613160" y="3311535"/>
                </a:lnTo>
                <a:lnTo>
                  <a:pt x="3705231" y="3311535"/>
                </a:lnTo>
                <a:lnTo>
                  <a:pt x="2606690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3" name="wukna wordmark glyph 2">
            <a:extLst xmlns:a="http://schemas.openxmlformats.org/drawingml/2006/main">
              <a:ext uri="{FF2B5EF4-FFF2-40B4-BE49-F238E27FC236}">
                <a16:creationId xmlns:a16="http://schemas.microsoft.com/office/drawing/2014/main" id="{8F52DA52-C29F-4321-8529-9C2D11E2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6505"/>
            <a:ext cx="2382636" cy="603440"/>
          </a:xfrm>
          <a:custGeom xmlns:a="http://schemas.openxmlformats.org/drawingml/2006/main">
            <a:pathLst>
              <a:path w="27705065" h="7016746">
                <a:moveTo>
                  <a:pt x="9296399" y="7016746"/>
                </a:moveTo>
                <a:quadBezTo>
                  <a:pt x="8794749" y="7016746"/>
                  <a:pt x="8426449" y="6802433"/>
                </a:quadBezTo>
                <a:quadBezTo>
                  <a:pt x="8058149" y="6588120"/>
                  <a:pt x="7861299" y="6218232"/>
                </a:quadBezTo>
                <a:quadBezTo>
                  <a:pt x="7664450" y="5848344"/>
                  <a:pt x="7664450" y="5381619"/>
                </a:quadBezTo>
                <a:lnTo>
                  <a:pt x="7664450" y="2063746"/>
                </a:lnTo>
                <a:lnTo>
                  <a:pt x="8870963" y="2063746"/>
                </a:lnTo>
                <a:lnTo>
                  <a:pt x="8870963" y="5130793"/>
                </a:lnTo>
                <a:quadBezTo>
                  <a:pt x="8870963" y="5581640"/>
                  <a:pt x="9094799" y="5807063"/>
                </a:quadBezTo>
                <a:quadBezTo>
                  <a:pt x="9318635" y="6032486"/>
                  <a:pt x="9728207" y="6032486"/>
                </a:quadBezTo>
                <a:quadBezTo>
                  <a:pt x="10096505" y="6032486"/>
                  <a:pt x="10379078" y="5861038"/>
                </a:quadBezTo>
                <a:quadBezTo>
                  <a:pt x="10661650" y="5689589"/>
                  <a:pt x="10828337" y="5383203"/>
                </a:quadBezTo>
                <a:quadBezTo>
                  <a:pt x="10995023" y="5076818"/>
                  <a:pt x="10995023" y="4679946"/>
                </a:quadBezTo>
                <a:lnTo>
                  <a:pt x="11118848" y="5845171"/>
                </a:lnTo>
                <a:quadBezTo>
                  <a:pt x="10880723" y="6375396"/>
                  <a:pt x="10407649" y="6696071"/>
                </a:quadBezTo>
                <a:quadBezTo>
                  <a:pt x="9934575" y="7016746"/>
                  <a:pt x="9296399" y="7016746"/>
                </a:quadBezTo>
                <a:close/>
                <a:moveTo>
                  <a:pt x="11029948" y="6921496"/>
                </a:moveTo>
                <a:lnTo>
                  <a:pt x="11029948" y="5778496"/>
                </a:lnTo>
                <a:lnTo>
                  <a:pt x="10995023" y="5778496"/>
                </a:lnTo>
                <a:lnTo>
                  <a:pt x="10995023" y="2063746"/>
                </a:lnTo>
                <a:lnTo>
                  <a:pt x="12201537" y="2063746"/>
                </a:lnTo>
                <a:lnTo>
                  <a:pt x="1220153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4" name="wukna wordmark glyph 3">
            <a:extLst xmlns:a="http://schemas.openxmlformats.org/drawingml/2006/main">
              <a:ext uri="{FF2B5EF4-FFF2-40B4-BE49-F238E27FC236}">
                <a16:creationId xmlns:a16="http://schemas.microsoft.com/office/drawing/2014/main" id="{6FB23BE6-864A-4D23-B0F5-39967914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6505"/>
            <a:ext cx="2382636" cy="603440"/>
          </a:xfrm>
          <a:custGeom xmlns:a="http://schemas.openxmlformats.org/drawingml/2006/main">
            <a:pathLst>
              <a:path w="27705065" h="7016746">
                <a:moveTo>
                  <a:pt x="13093700" y="6921496"/>
                </a:moveTo>
                <a:lnTo>
                  <a:pt x="13093700" y="0"/>
                </a:lnTo>
                <a:lnTo>
                  <a:pt x="14300213" y="0"/>
                </a:lnTo>
                <a:lnTo>
                  <a:pt x="14300213" y="6921496"/>
                </a:lnTo>
                <a:close/>
                <a:moveTo>
                  <a:pt x="16227423" y="6921496"/>
                </a:moveTo>
                <a:lnTo>
                  <a:pt x="14020810" y="4397371"/>
                </a:lnTo>
                <a:lnTo>
                  <a:pt x="16163924" y="2063746"/>
                </a:lnTo>
                <a:lnTo>
                  <a:pt x="17611737" y="2063746"/>
                </a:lnTo>
                <a:lnTo>
                  <a:pt x="15138421" y="4616446"/>
                </a:lnTo>
                <a:lnTo>
                  <a:pt x="15198747" y="4168771"/>
                </a:lnTo>
                <a:lnTo>
                  <a:pt x="17706987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5" name="wukna wordmark glyph 4">
            <a:extLst xmlns:a="http://schemas.openxmlformats.org/drawingml/2006/main">
              <a:ext uri="{FF2B5EF4-FFF2-40B4-BE49-F238E27FC236}">
                <a16:creationId xmlns:a16="http://schemas.microsoft.com/office/drawing/2014/main" id="{1FA535D5-1671-4E43-9126-8011C86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6505"/>
            <a:ext cx="2382636" cy="603440"/>
          </a:xfrm>
          <a:custGeom xmlns:a="http://schemas.openxmlformats.org/drawingml/2006/main">
            <a:pathLst>
              <a:path w="27705065" h="7016746">
                <a:moveTo>
                  <a:pt x="18027650" y="6921496"/>
                </a:moveTo>
                <a:lnTo>
                  <a:pt x="18027650" y="2063746"/>
                </a:lnTo>
                <a:lnTo>
                  <a:pt x="19199239" y="2063746"/>
                </a:lnTo>
                <a:lnTo>
                  <a:pt x="19199239" y="3206746"/>
                </a:lnTo>
                <a:lnTo>
                  <a:pt x="19234163" y="3206746"/>
                </a:lnTo>
                <a:lnTo>
                  <a:pt x="19234163" y="6921496"/>
                </a:lnTo>
                <a:close/>
                <a:moveTo>
                  <a:pt x="21440773" y="6921496"/>
                </a:moveTo>
                <a:lnTo>
                  <a:pt x="21440773" y="3854450"/>
                </a:lnTo>
                <a:quadBezTo>
                  <a:pt x="21440773" y="3403603"/>
                  <a:pt x="21212174" y="3178179"/>
                </a:quadBezTo>
                <a:quadBezTo>
                  <a:pt x="20983576" y="2952756"/>
                  <a:pt x="20542254" y="2952756"/>
                </a:quadBezTo>
                <a:quadBezTo>
                  <a:pt x="20161257" y="2952756"/>
                  <a:pt x="19864396" y="3124205"/>
                </a:quadBezTo>
                <a:quadBezTo>
                  <a:pt x="19567536" y="3295653"/>
                  <a:pt x="19400850" y="3597276"/>
                </a:quadBezTo>
                <a:quadBezTo>
                  <a:pt x="19234163" y="3898899"/>
                  <a:pt x="19234163" y="4305297"/>
                </a:quadBezTo>
                <a:lnTo>
                  <a:pt x="19110338" y="3140071"/>
                </a:lnTo>
                <a:quadBezTo>
                  <a:pt x="19351638" y="2603496"/>
                  <a:pt x="19829475" y="2285996"/>
                </a:quadBezTo>
                <a:quadBezTo>
                  <a:pt x="20307311" y="1968496"/>
                  <a:pt x="20974062" y="1968496"/>
                </a:quadBezTo>
                <a:quadBezTo>
                  <a:pt x="21767813" y="1968496"/>
                  <a:pt x="22207549" y="2414584"/>
                </a:quadBezTo>
                <a:quadBezTo>
                  <a:pt x="22647286" y="2860672"/>
                  <a:pt x="22647286" y="3603623"/>
                </a:quadBezTo>
                <a:lnTo>
                  <a:pt x="22647286" y="6921496"/>
                </a:ln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6" name="wukna wordmark glyph 5">
            <a:extLst xmlns:a="http://schemas.openxmlformats.org/drawingml/2006/main">
              <a:ext uri="{FF2B5EF4-FFF2-40B4-BE49-F238E27FC236}">
                <a16:creationId xmlns:a16="http://schemas.microsoft.com/office/drawing/2014/main" id="{A5F5E4E9-C81B-4545-A8A7-D28B76E6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6505"/>
            <a:ext cx="2382636" cy="603440"/>
          </a:xfrm>
          <a:custGeom xmlns:a="http://schemas.openxmlformats.org/drawingml/2006/main">
            <a:pathLst>
              <a:path w="27705065" h="7016746">
                <a:moveTo>
                  <a:pt x="26508076" y="6921496"/>
                </a:moveTo>
                <a:quadBezTo>
                  <a:pt x="26457276" y="6727820"/>
                  <a:pt x="26436638" y="6499220"/>
                </a:quadBezTo>
                <a:quadBezTo>
                  <a:pt x="26416000" y="6270619"/>
                  <a:pt x="26416000" y="5953119"/>
                </a:quadBezTo>
                <a:lnTo>
                  <a:pt x="26374726" y="5953119"/>
                </a:lnTo>
                <a:lnTo>
                  <a:pt x="26374726" y="3648070"/>
                </a:lnTo>
                <a:quadBezTo>
                  <a:pt x="26374726" y="3267075"/>
                  <a:pt x="26160414" y="3068639"/>
                </a:quadBezTo>
                <a:quadBezTo>
                  <a:pt x="25946103" y="2870204"/>
                  <a:pt x="25504782" y="2870204"/>
                </a:quadBezTo>
                <a:quadBezTo>
                  <a:pt x="25079335" y="2870204"/>
                  <a:pt x="24826925" y="3027364"/>
                </a:quadBezTo>
                <a:quadBezTo>
                  <a:pt x="24574515" y="3184525"/>
                  <a:pt x="24517365" y="3479796"/>
                </a:quadBezTo>
                <a:lnTo>
                  <a:pt x="23364827" y="3479796"/>
                </a:lnTo>
                <a:quadBezTo>
                  <a:pt x="23444203" y="2806697"/>
                  <a:pt x="24012528" y="2387597"/>
                </a:quadBezTo>
                <a:quadBezTo>
                  <a:pt x="24580854" y="1968496"/>
                  <a:pt x="25546057" y="1968496"/>
                </a:quadBezTo>
                <a:quadBezTo>
                  <a:pt x="26546185" y="1968496"/>
                  <a:pt x="27060537" y="2422522"/>
                </a:quadBezTo>
                <a:quadBezTo>
                  <a:pt x="27574890" y="2876548"/>
                  <a:pt x="27574890" y="3746498"/>
                </a:quadBezTo>
                <a:lnTo>
                  <a:pt x="27574890" y="5953119"/>
                </a:lnTo>
                <a:quadBezTo>
                  <a:pt x="27574890" y="6181720"/>
                  <a:pt x="27606640" y="6418258"/>
                </a:quadBezTo>
                <a:quadBezTo>
                  <a:pt x="27638390" y="6654796"/>
                  <a:pt x="27705065" y="6921496"/>
                </a:quadBezTo>
                <a:close/>
                <a:moveTo>
                  <a:pt x="24822151" y="7016746"/>
                </a:moveTo>
                <a:quadBezTo>
                  <a:pt x="24088726" y="7016746"/>
                  <a:pt x="23655339" y="6650034"/>
                </a:quadBezTo>
                <a:quadBezTo>
                  <a:pt x="23221952" y="6283321"/>
                  <a:pt x="23221952" y="5664197"/>
                </a:quadBezTo>
                <a:quadBezTo>
                  <a:pt x="23221952" y="5000621"/>
                  <a:pt x="23707728" y="4606920"/>
                </a:quadBezTo>
                <a:quadBezTo>
                  <a:pt x="24193505" y="4213218"/>
                  <a:pt x="25082506" y="4083044"/>
                </a:quadBezTo>
                <a:lnTo>
                  <a:pt x="26593801" y="3854446"/>
                </a:lnTo>
                <a:lnTo>
                  <a:pt x="26593801" y="4616450"/>
                </a:lnTo>
                <a:lnTo>
                  <a:pt x="25279359" y="4819648"/>
                </a:lnTo>
                <a:quadBezTo>
                  <a:pt x="24847562" y="4886323"/>
                  <a:pt x="24634839" y="5054597"/>
                </a:quadBezTo>
                <a:quadBezTo>
                  <a:pt x="24422116" y="5222871"/>
                  <a:pt x="24422116" y="5527668"/>
                </a:quadBezTo>
                <a:quadBezTo>
                  <a:pt x="24422116" y="5810241"/>
                  <a:pt x="24620552" y="5956289"/>
                </a:quadBezTo>
                <a:quadBezTo>
                  <a:pt x="24818987" y="6102338"/>
                  <a:pt x="25174583" y="6102338"/>
                </a:quadBezTo>
                <a:quadBezTo>
                  <a:pt x="25685754" y="6102338"/>
                  <a:pt x="26030240" y="5843576"/>
                </a:quadBezTo>
                <a:quadBezTo>
                  <a:pt x="26374726" y="5584815"/>
                  <a:pt x="26374726" y="5213343"/>
                </a:quadBezTo>
                <a:lnTo>
                  <a:pt x="26504901" y="5946770"/>
                </a:lnTo>
                <a:quadBezTo>
                  <a:pt x="26314400" y="6470646"/>
                  <a:pt x="25881012" y="6743696"/>
                </a:quadBezTo>
                <a:quadBezTo>
                  <a:pt x="25447625" y="7016746"/>
                  <a:pt x="24822151" y="7016746"/>
                </a:quadBezTo>
                <a:close/>
              </a:path>
            </a:pathLst>
          </a:custGeom>
          <a:solidFill xmlns:a="http://schemas.openxmlformats.org/drawingml/2006/main">
            <a:srgbClr val="17181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24315-A8E9-41B8-9732-5D11D1F8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181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1815"/>
                </a:solidFill>
                <a:latin typeface="Inter"/>
                <a:ea typeface="Inter"/>
                <a:cs typeface="Inter"/>
              </a:rPr>
              <a:t>Recommended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AF3FB-8D78-48FE-934A-A6D52869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3665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3665F"/>
                </a:solidFill>
                <a:latin typeface="Inter"/>
                <a:ea typeface="Inter"/>
                <a:cs typeface="Inter"/>
              </a:rPr>
              <a:t>Gathered Moss. Instrument Sans 600. One-color small icons. Tonal folds for larger brand moments. A 1,600 ms launch and 1,200 ms loading study.</a:t>
            </a:r>
          </a:p>
        </p:txBody>
      </p:sp>
    </p:spTree>
    <p:extLst>
      <p:ext uri="{BB962C8B-B14F-4D97-AF65-F5344CB8AC3E}">
        <p14:creationId xmlns:p14="http://schemas.microsoft.com/office/powerpoint/2010/main" val="1423285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2026-10-12T12:38:52.0030000Z</dcterms:created>
  <dcterms:modified xsi:type="dcterms:W3CDTF">2026-10-12T12:38:52.0040000Z</dcterms:modified>
</coreProperties>
</file>